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i1OEMtuMi2TraVfKeQZ1Dn71tw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032" y="-131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hyperlink" Target="https://drive.google.com/drive/folders/1q_5AnLlgQp4jQGbLFSIlKnrqhbQa5euM?usp=sharing" TargetMode="External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4.png"/><Relationship Id="rId5" Type="http://schemas.openxmlformats.org/officeDocument/2006/relationships/image" Target="../media/image5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5.png"/><Relationship Id="rId10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33" b="-833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5" name="Google Shape;85;p1"/>
          <p:cNvSpPr/>
          <p:nvPr/>
        </p:nvSpPr>
        <p:spPr>
          <a:xfrm rot="-5400000">
            <a:off x="7160271" y="744682"/>
            <a:ext cx="3967448" cy="14347590"/>
          </a:xfrm>
          <a:custGeom>
            <a:avLst/>
            <a:gdLst/>
            <a:ahLst/>
            <a:cxnLst/>
            <a:rect l="l" t="t" r="r" b="b"/>
            <a:pathLst>
              <a:path w="4277572" h="14347590" extrusionOk="0">
                <a:moveTo>
                  <a:pt x="0" y="0"/>
                </a:moveTo>
                <a:lnTo>
                  <a:pt x="4277572" y="0"/>
                </a:lnTo>
                <a:lnTo>
                  <a:pt x="4277572" y="14347590"/>
                </a:lnTo>
                <a:lnTo>
                  <a:pt x="0" y="1434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89000"/>
            </a:blip>
            <a:stretch>
              <a:fillRect l="-228716" r="-216689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002" name="Text 0"/>
          <p:cNvSpPr txBox="1"/>
          <p:nvPr/>
        </p:nvSpPr>
        <p:spPr>
          <a:xfrm>
            <a:off x="2194560" y="6126480"/>
            <a:ext cx="138988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700" b="1" kern="0" spc="300" dirty="0">
                <a:solidFill>
                  <a:srgbClr val="C9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TRACK  ·  PRICING CASE</a:t>
            </a:r>
            <a:endParaRPr lang="en-US" sz="1700" dirty="0"/>
          </a:p>
        </p:txBody>
      </p:sp>
      <p:sp>
        <p:nvSpPr>
          <p:cNvPr id="5003" name="Text 1"/>
          <p:cNvSpPr txBox="1"/>
          <p:nvPr/>
        </p:nvSpPr>
        <p:spPr>
          <a:xfrm>
            <a:off x="2194560" y="6537960"/>
            <a:ext cx="138988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Across a Product's Lifecycle: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New-to-Online Seller</a:t>
            </a:r>
            <a:endParaRPr lang="en-US" sz="3600" dirty="0"/>
          </a:p>
        </p:txBody>
      </p:sp>
      <p:sp>
        <p:nvSpPr>
          <p:cNvPr id="5004" name="Text 2"/>
          <p:cNvSpPr txBox="1"/>
          <p:nvPr/>
        </p:nvSpPr>
        <p:spPr>
          <a:xfrm>
            <a:off x="2194560" y="8001000"/>
            <a:ext cx="1389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 Daam</a:t>
            </a:r>
            <a:r>
              <a:rPr lang="en-US" sz="2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Helping new-to-online sellers find, and keep, the right price</a:t>
            </a:r>
            <a:endParaRPr lang="en-US" sz="2000" dirty="0"/>
          </a:p>
        </p:txBody>
      </p:sp>
      <p:sp>
        <p:nvSpPr>
          <p:cNvPr id="5005" name="Shape 3"/>
          <p:cNvSpPr/>
          <p:nvPr/>
        </p:nvSpPr>
        <p:spPr>
          <a:xfrm>
            <a:off x="8138160" y="8686800"/>
            <a:ext cx="2011680" cy="0"/>
          </a:xfrm>
          <a:prstGeom prst="line">
            <a:avLst/>
          </a:prstGeom>
          <a:noFill/>
          <a:ln w="317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6" name="Text 4"/>
          <p:cNvSpPr txBox="1"/>
          <p:nvPr/>
        </p:nvSpPr>
        <p:spPr>
          <a:xfrm>
            <a:off x="2194560" y="8869680"/>
            <a:ext cx="138988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E0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 -</a:t>
            </a:r>
            <a:r>
              <a:rPr lang="en-US" sz="1800" dirty="0" err="1">
                <a:solidFill>
                  <a:srgbClr val="3E0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NoName</a:t>
            </a:r>
            <a:r>
              <a:rPr lang="en-US" sz="1800" dirty="0">
                <a:solidFill>
                  <a:srgbClr val="3E0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  |   [Members –Deeksha Dey, Himanshi Vaidya, Aashish </a:t>
            </a:r>
            <a:r>
              <a:rPr lang="en-US" sz="1800" dirty="0" err="1">
                <a:solidFill>
                  <a:srgbClr val="3E0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Gaurabh</a:t>
            </a:r>
            <a:r>
              <a:rPr lang="en-US" sz="1800" dirty="0">
                <a:solidFill>
                  <a:srgbClr val="3E0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  |   [College –IIT ISM Dhanbad]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91" name="Google Shape;91;p2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92" name="Google Shape;92;p2"/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93" name="Google Shape;93;p2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94" name="Google Shape;94;p2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5" name="Google Shape;95;p2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" name="Google Shape;96;p2"/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02" name="Text 0"/>
          <p:cNvSpPr txBox="1"/>
          <p:nvPr/>
        </p:nvSpPr>
        <p:spPr>
          <a:xfrm>
            <a:off x="4572000" y="45720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5003" name="Text 1"/>
          <p:cNvSpPr txBox="1"/>
          <p:nvPr/>
        </p:nvSpPr>
        <p:spPr>
          <a:xfrm>
            <a:off x="4572000" y="15544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across a product's lifecycle for the new-to-online seller</a:t>
            </a:r>
            <a:endParaRPr lang="en-US" sz="1400" dirty="0"/>
          </a:p>
        </p:txBody>
      </p:sp>
      <p:sp>
        <p:nvSpPr>
          <p:cNvPr id="5004" name="Shape 2"/>
          <p:cNvSpPr/>
          <p:nvPr/>
        </p:nvSpPr>
        <p:spPr>
          <a:xfrm>
            <a:off x="365760" y="2606040"/>
            <a:ext cx="2103120" cy="1051560"/>
          </a:xfrm>
          <a:prstGeom prst="rect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5" name="Text 3"/>
          <p:cNvSpPr txBox="1"/>
          <p:nvPr/>
        </p:nvSpPr>
        <p:spPr>
          <a:xfrm>
            <a:off x="411480" y="2606040"/>
            <a:ext cx="20116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006" name="Text 4"/>
          <p:cNvSpPr txBox="1"/>
          <p:nvPr/>
        </p:nvSpPr>
        <p:spPr>
          <a:xfrm>
            <a:off x="2606040" y="2606040"/>
            <a:ext cx="6035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New-to-online sellers set a day-one price by guesswork: they </a:t>
            </a: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over the offline price</a:t>
            </a: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cheapest competitor</a:t>
            </a: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too high</a:t>
            </a: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price then goes stale. Result: invisible losses per order, lost discovery, abandoned listings and churn.</a:t>
            </a:r>
            <a:endParaRPr lang="en-US" sz="1350" dirty="0"/>
          </a:p>
        </p:txBody>
      </p:sp>
      <p:sp>
        <p:nvSpPr>
          <p:cNvPr id="5007" name="Shape 5"/>
          <p:cNvSpPr/>
          <p:nvPr/>
        </p:nvSpPr>
        <p:spPr>
          <a:xfrm>
            <a:off x="2606040" y="3767328"/>
            <a:ext cx="603504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008" name="Shape 6"/>
          <p:cNvSpPr/>
          <p:nvPr/>
        </p:nvSpPr>
        <p:spPr>
          <a:xfrm>
            <a:off x="365760" y="3886200"/>
            <a:ext cx="2103120" cy="1572768"/>
          </a:xfrm>
          <a:prstGeom prst="rect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9" name="Text 7"/>
          <p:cNvSpPr txBox="1"/>
          <p:nvPr/>
        </p:nvSpPr>
        <p:spPr>
          <a:xfrm>
            <a:off x="411480" y="3886200"/>
            <a:ext cx="2011680" cy="1572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Really Solving</a:t>
            </a:r>
            <a:endParaRPr lang="en-US" sz="1600" dirty="0"/>
          </a:p>
        </p:txBody>
      </p:sp>
      <p:sp>
        <p:nvSpPr>
          <p:cNvPr id="5010" name="Text 8"/>
          <p:cNvSpPr txBox="1"/>
          <p:nvPr/>
        </p:nvSpPr>
        <p:spPr>
          <a:xfrm>
            <a:off x="2606040" y="3840480"/>
            <a:ext cx="60350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don't lack a price. They lack </a:t>
            </a:r>
            <a:r>
              <a:rPr lang="en-US" sz="13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</a:t>
            </a: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300" dirty="0"/>
          </a:p>
        </p:txBody>
      </p:sp>
      <p:sp>
        <p:nvSpPr>
          <p:cNvPr id="5011" name="Shape 9"/>
          <p:cNvSpPr/>
          <p:nvPr/>
        </p:nvSpPr>
        <p:spPr>
          <a:xfrm>
            <a:off x="2606040" y="4242816"/>
            <a:ext cx="2084832" cy="530352"/>
          </a:xfrm>
          <a:prstGeom prst="homePlate">
            <a:avLst/>
          </a:prstGeom>
          <a:solidFill>
            <a:srgbClr val="5B135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2" name="Text 10"/>
          <p:cNvSpPr txBox="1"/>
          <p:nvPr/>
        </p:nvSpPr>
        <p:spPr>
          <a:xfrm>
            <a:off x="2651760" y="4242816"/>
            <a:ext cx="1764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</a:t>
            </a:r>
            <a:endParaRPr lang="en-US" sz="1600" dirty="0"/>
          </a:p>
        </p:txBody>
      </p:sp>
      <p:sp>
        <p:nvSpPr>
          <p:cNvPr id="5013" name="Text 11"/>
          <p:cNvSpPr txBox="1"/>
          <p:nvPr/>
        </p:nvSpPr>
        <p:spPr>
          <a:xfrm>
            <a:off x="2715768" y="4809744"/>
            <a:ext cx="17647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cost to serve a delivered order, incl. returns &amp; RTO</a:t>
            </a:r>
            <a:endParaRPr lang="en-US" sz="1200" dirty="0"/>
          </a:p>
        </p:txBody>
      </p:sp>
      <p:sp>
        <p:nvSpPr>
          <p:cNvPr id="5014" name="Shape 12"/>
          <p:cNvSpPr/>
          <p:nvPr/>
        </p:nvSpPr>
        <p:spPr>
          <a:xfrm>
            <a:off x="4581144" y="4242816"/>
            <a:ext cx="2084832" cy="530352"/>
          </a:xfrm>
          <a:prstGeom prst="chevron">
            <a:avLst/>
          </a:prstGeom>
          <a:solidFill>
            <a:srgbClr val="7A2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5" name="Text 13"/>
          <p:cNvSpPr txBox="1"/>
          <p:nvPr/>
        </p:nvSpPr>
        <p:spPr>
          <a:xfrm>
            <a:off x="4855464" y="424281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</a:t>
            </a:r>
            <a:endParaRPr lang="en-US" sz="1600" dirty="0"/>
          </a:p>
        </p:txBody>
      </p:sp>
      <p:sp>
        <p:nvSpPr>
          <p:cNvPr id="5016" name="Text 14"/>
          <p:cNvSpPr txBox="1"/>
          <p:nvPr/>
        </p:nvSpPr>
        <p:spPr>
          <a:xfrm>
            <a:off x="4690872" y="4809744"/>
            <a:ext cx="17647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band buyers actually accept</a:t>
            </a:r>
            <a:endParaRPr lang="en-US" sz="1200" dirty="0"/>
          </a:p>
        </p:txBody>
      </p:sp>
      <p:sp>
        <p:nvSpPr>
          <p:cNvPr id="5017" name="Shape 15"/>
          <p:cNvSpPr/>
          <p:nvPr/>
        </p:nvSpPr>
        <p:spPr>
          <a:xfrm>
            <a:off x="6556248" y="4242816"/>
            <a:ext cx="2084832" cy="530352"/>
          </a:xfrm>
          <a:prstGeom prst="chevron">
            <a:avLst/>
          </a:prstGeom>
          <a:solidFill>
            <a:srgbClr val="3E0C3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8" name="Text 16"/>
          <p:cNvSpPr txBox="1"/>
          <p:nvPr/>
        </p:nvSpPr>
        <p:spPr>
          <a:xfrm>
            <a:off x="6830568" y="424281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600" dirty="0"/>
          </a:p>
        </p:txBody>
      </p:sp>
      <p:sp>
        <p:nvSpPr>
          <p:cNvPr id="5019" name="Text 17"/>
          <p:cNvSpPr txBox="1"/>
          <p:nvPr/>
        </p:nvSpPr>
        <p:spPr>
          <a:xfrm>
            <a:off x="6665976" y="4809744"/>
            <a:ext cx="17647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alert when the price has gone wrong</a:t>
            </a:r>
            <a:endParaRPr lang="en-US" sz="1200" dirty="0"/>
          </a:p>
        </p:txBody>
      </p:sp>
      <p:sp>
        <p:nvSpPr>
          <p:cNvPr id="5020" name="Shape 18"/>
          <p:cNvSpPr/>
          <p:nvPr/>
        </p:nvSpPr>
        <p:spPr>
          <a:xfrm>
            <a:off x="2606040" y="5550408"/>
            <a:ext cx="603504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021" name="Shape 19"/>
          <p:cNvSpPr/>
          <p:nvPr/>
        </p:nvSpPr>
        <p:spPr>
          <a:xfrm>
            <a:off x="365760" y="5669280"/>
            <a:ext cx="2103120" cy="2788920"/>
          </a:xfrm>
          <a:prstGeom prst="rect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2" name="Text 20"/>
          <p:cNvSpPr txBox="1"/>
          <p:nvPr/>
        </p:nvSpPr>
        <p:spPr>
          <a:xfrm>
            <a:off x="411480" y="5669280"/>
            <a:ext cx="201168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Potential &amp; Business Opportunity</a:t>
            </a:r>
            <a:endParaRPr lang="en-US" sz="1600" dirty="0"/>
          </a:p>
        </p:txBody>
      </p:sp>
      <p:sp>
        <p:nvSpPr>
          <p:cNvPr id="5023" name="Shape 21"/>
          <p:cNvSpPr/>
          <p:nvPr/>
        </p:nvSpPr>
        <p:spPr>
          <a:xfrm>
            <a:off x="2606040" y="5669280"/>
            <a:ext cx="6035040" cy="429768"/>
          </a:xfrm>
          <a:prstGeom prst="roundRect">
            <a:avLst>
              <a:gd name="adj" fmla="val 17021"/>
            </a:avLst>
          </a:prstGeom>
          <a:solidFill>
            <a:srgbClr val="FBE3DF"/>
          </a:solidFill>
          <a:ln w="19050">
            <a:solidFill>
              <a:srgbClr val="E860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4" name="Text 22"/>
          <p:cNvSpPr txBox="1"/>
          <p:nvPr/>
        </p:nvSpPr>
        <p:spPr>
          <a:xfrm>
            <a:off x="2606040" y="5669280"/>
            <a:ext cx="60350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kern="0" spc="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PRICING PROBLEM</a:t>
            </a:r>
            <a:endParaRPr lang="en-US" sz="1450" dirty="0"/>
          </a:p>
        </p:txBody>
      </p:sp>
      <p:sp>
        <p:nvSpPr>
          <p:cNvPr id="5025" name="Shape 23"/>
          <p:cNvSpPr/>
          <p:nvPr/>
        </p:nvSpPr>
        <p:spPr>
          <a:xfrm>
            <a:off x="5504688" y="6117336"/>
            <a:ext cx="237744" cy="123444"/>
          </a:xfrm>
          <a:prstGeom prst="downArrow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6" name="Shape 24"/>
          <p:cNvSpPr/>
          <p:nvPr/>
        </p:nvSpPr>
        <p:spPr>
          <a:xfrm>
            <a:off x="2606040" y="6259068"/>
            <a:ext cx="6035040" cy="429768"/>
          </a:xfrm>
          <a:prstGeom prst="roundRect">
            <a:avLst>
              <a:gd name="adj" fmla="val 17021"/>
            </a:avLst>
          </a:prstGeom>
          <a:solidFill>
            <a:srgbClr val="FFF7EA"/>
          </a:solidFill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7" name="Text 25"/>
          <p:cNvSpPr txBox="1"/>
          <p:nvPr/>
        </p:nvSpPr>
        <p:spPr>
          <a:xfrm>
            <a:off x="2606040" y="6259068"/>
            <a:ext cx="60350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kern="0" spc="150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PRICING</a:t>
            </a:r>
            <a:endParaRPr lang="en-US" sz="1450" dirty="0"/>
          </a:p>
        </p:txBody>
      </p:sp>
      <p:sp>
        <p:nvSpPr>
          <p:cNvPr id="5028" name="Shape 26"/>
          <p:cNvSpPr/>
          <p:nvPr/>
        </p:nvSpPr>
        <p:spPr>
          <a:xfrm>
            <a:off x="5504688" y="6707124"/>
            <a:ext cx="237744" cy="123444"/>
          </a:xfrm>
          <a:prstGeom prst="downArrow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9" name="Shape 27"/>
          <p:cNvSpPr/>
          <p:nvPr/>
        </p:nvSpPr>
        <p:spPr>
          <a:xfrm>
            <a:off x="2606040" y="6848856"/>
            <a:ext cx="6035040" cy="429768"/>
          </a:xfrm>
          <a:prstGeom prst="roundRect">
            <a:avLst>
              <a:gd name="adj" fmla="val 17021"/>
            </a:avLst>
          </a:prstGeom>
          <a:solidFill>
            <a:srgbClr val="F8EDF5"/>
          </a:solidFill>
          <a:ln w="1905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0" name="Text 28"/>
          <p:cNvSpPr txBox="1"/>
          <p:nvPr/>
        </p:nvSpPr>
        <p:spPr>
          <a:xfrm>
            <a:off x="2606040" y="6848856"/>
            <a:ext cx="6035040" cy="429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kern="0" spc="150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PRICING DECISIONS</a:t>
            </a:r>
            <a:endParaRPr lang="en-US" sz="1450" dirty="0"/>
          </a:p>
        </p:txBody>
      </p:sp>
      <p:sp>
        <p:nvSpPr>
          <p:cNvPr id="5031" name="Shape 29"/>
          <p:cNvSpPr/>
          <p:nvPr/>
        </p:nvSpPr>
        <p:spPr>
          <a:xfrm>
            <a:off x="5504688" y="7296912"/>
            <a:ext cx="237744" cy="123444"/>
          </a:xfrm>
          <a:prstGeom prst="downArrow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2" name="Shape 30"/>
          <p:cNvSpPr/>
          <p:nvPr/>
        </p:nvSpPr>
        <p:spPr>
          <a:xfrm>
            <a:off x="2606040" y="7438644"/>
            <a:ext cx="6035040" cy="429768"/>
          </a:xfrm>
          <a:prstGeom prst="roundRect">
            <a:avLst>
              <a:gd name="adj" fmla="val 17021"/>
            </a:avLst>
          </a:prstGeom>
          <a:solidFill>
            <a:srgbClr val="E7F4EC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3" name="Text 31"/>
          <p:cNvSpPr txBox="1"/>
          <p:nvPr/>
        </p:nvSpPr>
        <p:spPr>
          <a:xfrm>
            <a:off x="2743200" y="7438644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IMPACT</a:t>
            </a:r>
            <a:endParaRPr lang="en-US" sz="1400" dirty="0"/>
          </a:p>
        </p:txBody>
      </p:sp>
      <p:sp>
        <p:nvSpPr>
          <p:cNvPr id="5034" name="Shape 32"/>
          <p:cNvSpPr/>
          <p:nvPr/>
        </p:nvSpPr>
        <p:spPr>
          <a:xfrm>
            <a:off x="7452360" y="7511796"/>
            <a:ext cx="1097280" cy="283464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5" name="Text 33"/>
          <p:cNvSpPr txBox="1"/>
          <p:nvPr/>
        </p:nvSpPr>
        <p:spPr>
          <a:xfrm>
            <a:off x="7452360" y="751179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Survival</a:t>
            </a:r>
            <a:endParaRPr lang="en-US" sz="1200" dirty="0"/>
          </a:p>
        </p:txBody>
      </p:sp>
      <p:sp>
        <p:nvSpPr>
          <p:cNvPr id="5036" name="Shape 34"/>
          <p:cNvSpPr/>
          <p:nvPr/>
        </p:nvSpPr>
        <p:spPr>
          <a:xfrm>
            <a:off x="6263640" y="7511796"/>
            <a:ext cx="1097280" cy="283464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7" name="Text 35"/>
          <p:cNvSpPr txBox="1"/>
          <p:nvPr/>
        </p:nvSpPr>
        <p:spPr>
          <a:xfrm>
            <a:off x="6263640" y="751179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Trust</a:t>
            </a:r>
            <a:endParaRPr lang="en-US" sz="1200" dirty="0"/>
          </a:p>
        </p:txBody>
      </p:sp>
      <p:sp>
        <p:nvSpPr>
          <p:cNvPr id="5038" name="Shape 36"/>
          <p:cNvSpPr/>
          <p:nvPr/>
        </p:nvSpPr>
        <p:spPr>
          <a:xfrm>
            <a:off x="4892040" y="7511796"/>
            <a:ext cx="1280160" cy="283464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9" name="Text 37"/>
          <p:cNvSpPr txBox="1"/>
          <p:nvPr/>
        </p:nvSpPr>
        <p:spPr>
          <a:xfrm>
            <a:off x="4892040" y="7511796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Profitability</a:t>
            </a:r>
            <a:endParaRPr lang="en-US" sz="1200" dirty="0"/>
          </a:p>
        </p:txBody>
      </p:sp>
      <p:sp>
        <p:nvSpPr>
          <p:cNvPr id="5040" name="Shape 38"/>
          <p:cNvSpPr/>
          <p:nvPr/>
        </p:nvSpPr>
        <p:spPr>
          <a:xfrm>
            <a:off x="5504688" y="7886700"/>
            <a:ext cx="237744" cy="123444"/>
          </a:xfrm>
          <a:prstGeom prst="downArrow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1" name="Shape 39"/>
          <p:cNvSpPr/>
          <p:nvPr/>
        </p:nvSpPr>
        <p:spPr>
          <a:xfrm>
            <a:off x="2606040" y="8028432"/>
            <a:ext cx="6035040" cy="429768"/>
          </a:xfrm>
          <a:prstGeom prst="roundRect">
            <a:avLst>
              <a:gd name="adj" fmla="val 17021"/>
            </a:avLst>
          </a:prstGeom>
          <a:solidFill>
            <a:srgbClr val="5B1352"/>
          </a:solidFill>
          <a:ln w="1905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042" name="Text 40"/>
          <p:cNvSpPr txBox="1"/>
          <p:nvPr/>
        </p:nvSpPr>
        <p:spPr>
          <a:xfrm>
            <a:off x="2743200" y="8028432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5043" name="Shape 41"/>
          <p:cNvSpPr/>
          <p:nvPr/>
        </p:nvSpPr>
        <p:spPr>
          <a:xfrm>
            <a:off x="7452360" y="8101584"/>
            <a:ext cx="1097280" cy="283464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4" name="Text 42"/>
          <p:cNvSpPr txBox="1"/>
          <p:nvPr/>
        </p:nvSpPr>
        <p:spPr>
          <a:xfrm>
            <a:off x="7452360" y="810158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</a:t>
            </a: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</a:t>
            </a:r>
            <a:endParaRPr lang="en-US" sz="1200" dirty="0"/>
          </a:p>
        </p:txBody>
      </p:sp>
      <p:sp>
        <p:nvSpPr>
          <p:cNvPr id="5045" name="Shape 43"/>
          <p:cNvSpPr/>
          <p:nvPr/>
        </p:nvSpPr>
        <p:spPr>
          <a:xfrm>
            <a:off x="5897880" y="8101584"/>
            <a:ext cx="1463040" cy="283464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6" name="Text 44"/>
          <p:cNvSpPr txBox="1"/>
          <p:nvPr/>
        </p:nvSpPr>
        <p:spPr>
          <a:xfrm>
            <a:off x="5897880" y="8101584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</a:t>
            </a: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Listings</a:t>
            </a:r>
            <a:endParaRPr lang="en-US" sz="1200" dirty="0"/>
          </a:p>
        </p:txBody>
      </p:sp>
      <p:sp>
        <p:nvSpPr>
          <p:cNvPr id="5047" name="Shape 45"/>
          <p:cNvSpPr/>
          <p:nvPr/>
        </p:nvSpPr>
        <p:spPr>
          <a:xfrm>
            <a:off x="4709160" y="8101584"/>
            <a:ext cx="1097280" cy="283464"/>
          </a:xfrm>
          <a:prstGeom prst="roundRect">
            <a:avLst>
              <a:gd name="adj" fmla="val 45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8" name="Text 46"/>
          <p:cNvSpPr txBox="1"/>
          <p:nvPr/>
        </p:nvSpPr>
        <p:spPr>
          <a:xfrm>
            <a:off x="4709160" y="8101584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</a:t>
            </a: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5049" name="Shape 47"/>
          <p:cNvSpPr/>
          <p:nvPr/>
        </p:nvSpPr>
        <p:spPr>
          <a:xfrm>
            <a:off x="9006840" y="2651760"/>
            <a:ext cx="0" cy="580644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0" name="Shape 48"/>
          <p:cNvSpPr/>
          <p:nvPr/>
        </p:nvSpPr>
        <p:spPr>
          <a:xfrm>
            <a:off x="8778240" y="530352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51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5413248"/>
            <a:ext cx="237744" cy="237744"/>
          </a:xfrm>
          <a:prstGeom prst="rect">
            <a:avLst/>
          </a:prstGeom>
        </p:spPr>
      </p:pic>
      <p:sp>
        <p:nvSpPr>
          <p:cNvPr id="5052" name="Shape 49"/>
          <p:cNvSpPr/>
          <p:nvPr/>
        </p:nvSpPr>
        <p:spPr>
          <a:xfrm>
            <a:off x="9372600" y="2606040"/>
            <a:ext cx="8549640" cy="548640"/>
          </a:xfrm>
          <a:prstGeom prst="roundRect">
            <a:avLst>
              <a:gd name="adj" fmla="val 13333"/>
            </a:avLst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3" name="Text 50"/>
          <p:cNvSpPr txBox="1"/>
          <p:nvPr/>
        </p:nvSpPr>
        <p:spPr>
          <a:xfrm>
            <a:off x="9372600" y="2606040"/>
            <a:ext cx="8549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700" dirty="0"/>
          </a:p>
        </p:txBody>
      </p:sp>
      <p:sp>
        <p:nvSpPr>
          <p:cNvPr id="5054" name="Shape 51"/>
          <p:cNvSpPr/>
          <p:nvPr/>
        </p:nvSpPr>
        <p:spPr>
          <a:xfrm>
            <a:off x="9464040" y="3584448"/>
            <a:ext cx="676656" cy="36576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5" name="Shape 52"/>
          <p:cNvSpPr/>
          <p:nvPr/>
        </p:nvSpPr>
        <p:spPr>
          <a:xfrm>
            <a:off x="9774936" y="3616452"/>
            <a:ext cx="301752" cy="3017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6" name="Text 53"/>
          <p:cNvSpPr txBox="1"/>
          <p:nvPr/>
        </p:nvSpPr>
        <p:spPr>
          <a:xfrm>
            <a:off x="10332720" y="3310128"/>
            <a:ext cx="7589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from the Floor up. </a:t>
            </a: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listing starts from the true cost to serve a delivered order: landed cost + shipping, fees &amp; GST + expected returns/RTO + ads.</a:t>
            </a:r>
            <a:endParaRPr lang="en-US" sz="1400" dirty="0"/>
          </a:p>
        </p:txBody>
      </p:sp>
      <p:sp>
        <p:nvSpPr>
          <p:cNvPr id="5057" name="Shape 54"/>
          <p:cNvSpPr/>
          <p:nvPr/>
        </p:nvSpPr>
        <p:spPr>
          <a:xfrm>
            <a:off x="9464040" y="4617720"/>
            <a:ext cx="676656" cy="36576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8" name="Shape 55"/>
          <p:cNvSpPr/>
          <p:nvPr/>
        </p:nvSpPr>
        <p:spPr>
          <a:xfrm>
            <a:off x="9774936" y="4649724"/>
            <a:ext cx="301752" cy="3017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9" name="Text 56"/>
          <p:cNvSpPr txBox="1"/>
          <p:nvPr/>
        </p:nvSpPr>
        <p:spPr>
          <a:xfrm>
            <a:off x="10332720" y="4343400"/>
            <a:ext cx="7589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Three-zone Smart Band. </a:t>
            </a: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Meesho's competitor-led Price Recommendation into Win / Profit / Loss zones marked against the seller's own floor. Never recommend below it.</a:t>
            </a:r>
            <a:endParaRPr lang="en-US" sz="1400" dirty="0"/>
          </a:p>
        </p:txBody>
      </p:sp>
      <p:sp>
        <p:nvSpPr>
          <p:cNvPr id="5060" name="Shape 57"/>
          <p:cNvSpPr/>
          <p:nvPr/>
        </p:nvSpPr>
        <p:spPr>
          <a:xfrm>
            <a:off x="9464040" y="5650992"/>
            <a:ext cx="676656" cy="36576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1" name="Shape 58"/>
          <p:cNvSpPr/>
          <p:nvPr/>
        </p:nvSpPr>
        <p:spPr>
          <a:xfrm>
            <a:off x="9774936" y="5682996"/>
            <a:ext cx="301752" cy="3017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2" name="Text 59"/>
          <p:cNvSpPr txBox="1"/>
          <p:nvPr/>
        </p:nvSpPr>
        <p:spPr>
          <a:xfrm>
            <a:off x="10332720" y="5376672"/>
            <a:ext cx="7589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Health Guard. </a:t>
            </a: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Sanity-check weight and dimensions before they move the shipping slab. In our interview, a 750 g combo was billed as 7,500 g.</a:t>
            </a:r>
            <a:endParaRPr lang="en-US" sz="1400" dirty="0"/>
          </a:p>
        </p:txBody>
      </p:sp>
      <p:sp>
        <p:nvSpPr>
          <p:cNvPr id="5063" name="Shape 60"/>
          <p:cNvSpPr/>
          <p:nvPr/>
        </p:nvSpPr>
        <p:spPr>
          <a:xfrm>
            <a:off x="9464040" y="6684264"/>
            <a:ext cx="676656" cy="36576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4" name="Shape 61"/>
          <p:cNvSpPr/>
          <p:nvPr/>
        </p:nvSpPr>
        <p:spPr>
          <a:xfrm>
            <a:off x="9774936" y="6716268"/>
            <a:ext cx="301752" cy="3017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5" name="Text 62"/>
          <p:cNvSpPr txBox="1"/>
          <p:nvPr/>
        </p:nvSpPr>
        <p:spPr>
          <a:xfrm>
            <a:off x="10332720" y="6409944"/>
            <a:ext cx="7589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Autopilot. </a:t>
            </a: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Trigger-based nudges in the seller's language (conversion drop, cost change, settlement drift, season end) with the rupee impact of each action.</a:t>
            </a:r>
            <a:endParaRPr lang="en-US" sz="1400" dirty="0"/>
          </a:p>
        </p:txBody>
      </p:sp>
      <p:sp>
        <p:nvSpPr>
          <p:cNvPr id="5066" name="Shape 63"/>
          <p:cNvSpPr/>
          <p:nvPr/>
        </p:nvSpPr>
        <p:spPr>
          <a:xfrm>
            <a:off x="9464040" y="7717536"/>
            <a:ext cx="676656" cy="36576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7" name="Shape 64"/>
          <p:cNvSpPr/>
          <p:nvPr/>
        </p:nvSpPr>
        <p:spPr>
          <a:xfrm>
            <a:off x="9774936" y="7749540"/>
            <a:ext cx="301752" cy="3017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8" name="Text 65"/>
          <p:cNvSpPr txBox="1"/>
          <p:nvPr/>
        </p:nvSpPr>
        <p:spPr>
          <a:xfrm>
            <a:off x="10332720" y="7443216"/>
            <a:ext cx="7589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Explainer. </a:t>
            </a:r>
            <a:r>
              <a:rPr lang="en-US" sz="14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Itemised, plain-language payouts with expected-vs-actual alerts; pricing-critical tickets verified before they close.</a:t>
            </a:r>
            <a:endParaRPr lang="en-US" sz="1400" dirty="0"/>
          </a:p>
        </p:txBody>
      </p:sp>
      <p:sp>
        <p:nvSpPr>
          <p:cNvPr id="5069" name="Shape 66"/>
          <p:cNvSpPr/>
          <p:nvPr/>
        </p:nvSpPr>
        <p:spPr>
          <a:xfrm>
            <a:off x="365760" y="8613648"/>
            <a:ext cx="2103120" cy="850392"/>
          </a:xfrm>
          <a:prstGeom prst="rect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0" name="Text 67"/>
          <p:cNvSpPr txBox="1"/>
          <p:nvPr/>
        </p:nvSpPr>
        <p:spPr>
          <a:xfrm>
            <a:off x="411480" y="8613648"/>
            <a:ext cx="2011680" cy="8503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Evidence</a:t>
            </a:r>
            <a:endParaRPr lang="en-US" sz="1600" dirty="0"/>
          </a:p>
        </p:txBody>
      </p:sp>
      <p:sp>
        <p:nvSpPr>
          <p:cNvPr id="5071" name="Text 68"/>
          <p:cNvSpPr txBox="1"/>
          <p:nvPr/>
        </p:nvSpPr>
        <p:spPr>
          <a:xfrm>
            <a:off x="2606040" y="8531352"/>
            <a:ext cx="369189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3000" dirty="0"/>
          </a:p>
        </p:txBody>
      </p:sp>
      <p:sp>
        <p:nvSpPr>
          <p:cNvPr id="5072" name="Text 69"/>
          <p:cNvSpPr txBox="1"/>
          <p:nvPr/>
        </p:nvSpPr>
        <p:spPr>
          <a:xfrm>
            <a:off x="2606040" y="9034272"/>
            <a:ext cx="360045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 vs actual weight in the interviewed seller's listing (750 g → 7,500 g)</a:t>
            </a:r>
            <a:endParaRPr lang="en-US" sz="1150" dirty="0"/>
          </a:p>
        </p:txBody>
      </p:sp>
      <p:sp>
        <p:nvSpPr>
          <p:cNvPr id="5073" name="Text 70"/>
          <p:cNvSpPr txBox="1"/>
          <p:nvPr/>
        </p:nvSpPr>
        <p:spPr>
          <a:xfrm>
            <a:off x="6435090" y="8531352"/>
            <a:ext cx="369189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→ 8–10</a:t>
            </a:r>
            <a:endParaRPr lang="en-US" sz="3000" dirty="0"/>
          </a:p>
        </p:txBody>
      </p:sp>
      <p:sp>
        <p:nvSpPr>
          <p:cNvPr id="5074" name="Text 71"/>
          <p:cNvSpPr txBox="1"/>
          <p:nvPr/>
        </p:nvSpPr>
        <p:spPr>
          <a:xfrm>
            <a:off x="6435090" y="9034272"/>
            <a:ext cx="360045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orders/day for the same seller, ~2 years apart</a:t>
            </a:r>
            <a:endParaRPr lang="en-US" sz="1150" dirty="0"/>
          </a:p>
        </p:txBody>
      </p:sp>
      <p:sp>
        <p:nvSpPr>
          <p:cNvPr id="5075" name="Text 72"/>
          <p:cNvSpPr txBox="1"/>
          <p:nvPr/>
        </p:nvSpPr>
        <p:spPr>
          <a:xfrm>
            <a:off x="10264140" y="8531352"/>
            <a:ext cx="369189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 vs &lt;2%</a:t>
            </a:r>
            <a:endParaRPr lang="en-US" sz="3000" dirty="0"/>
          </a:p>
        </p:txBody>
      </p:sp>
      <p:sp>
        <p:nvSpPr>
          <p:cNvPr id="5076" name="Text 73"/>
          <p:cNvSpPr txBox="1"/>
          <p:nvPr/>
        </p:nvSpPr>
        <p:spPr>
          <a:xfrm>
            <a:off x="10264140" y="9034272"/>
            <a:ext cx="360045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on COD vs prepaid orders in India (Shipway)</a:t>
            </a:r>
            <a:endParaRPr lang="en-US" sz="1150" dirty="0"/>
          </a:p>
        </p:txBody>
      </p:sp>
      <p:sp>
        <p:nvSpPr>
          <p:cNvPr id="5077" name="Text 74"/>
          <p:cNvSpPr txBox="1"/>
          <p:nvPr/>
        </p:nvSpPr>
        <p:spPr>
          <a:xfrm>
            <a:off x="14093190" y="8531352"/>
            <a:ext cx="369189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4</a:t>
            </a:r>
            <a:endParaRPr lang="en-US" sz="3000" dirty="0"/>
          </a:p>
        </p:txBody>
      </p:sp>
      <p:sp>
        <p:nvSpPr>
          <p:cNvPr id="5078" name="Text 75"/>
          <p:cNvSpPr txBox="1"/>
          <p:nvPr/>
        </p:nvSpPr>
        <p:spPr>
          <a:xfrm>
            <a:off x="14093190" y="9034272"/>
            <a:ext cx="360045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benchmarked platforms recommend a price floor from the seller's own cost and returns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03" name="Google Shape;103;p3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04" name="Google Shape;104;p3"/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05" name="Google Shape;105;p3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06" name="Google Shape;106;p3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7" name="Google Shape;107;p3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" name="Google Shape;108;p3"/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02" name="Text 0"/>
          <p:cNvSpPr txBox="1"/>
          <p:nvPr/>
        </p:nvSpPr>
        <p:spPr>
          <a:xfrm>
            <a:off x="4572000" y="45720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Research: Seller Voice &amp; Benchmarking</a:t>
            </a:r>
            <a:endParaRPr lang="en-US" sz="3000" dirty="0"/>
          </a:p>
        </p:txBody>
      </p:sp>
      <p:sp>
        <p:nvSpPr>
          <p:cNvPr id="5003" name="Text 1"/>
          <p:cNvSpPr txBox="1"/>
          <p:nvPr/>
        </p:nvSpPr>
        <p:spPr>
          <a:xfrm>
            <a:off x="4572000" y="15544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sellers told us, and how marketplaces help sellers price today</a:t>
            </a:r>
            <a:endParaRPr lang="en-US" sz="1400" dirty="0"/>
          </a:p>
        </p:txBody>
      </p:sp>
      <p:sp>
        <p:nvSpPr>
          <p:cNvPr id="5004" name="Shape 2"/>
          <p:cNvSpPr/>
          <p:nvPr/>
        </p:nvSpPr>
        <p:spPr>
          <a:xfrm>
            <a:off x="365760" y="2560320"/>
            <a:ext cx="457200" cy="36027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5" name="Text 3"/>
          <p:cNvSpPr txBox="1"/>
          <p:nvPr/>
        </p:nvSpPr>
        <p:spPr>
          <a:xfrm rot="16200000">
            <a:off x="-1207008" y="4133088"/>
            <a:ext cx="36027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Seller's Voice</a:t>
            </a:r>
            <a:endParaRPr lang="en-US" sz="1700" dirty="0"/>
          </a:p>
        </p:txBody>
      </p:sp>
      <p:sp>
        <p:nvSpPr>
          <p:cNvPr id="5006" name="Shape 4"/>
          <p:cNvSpPr/>
          <p:nvPr/>
        </p:nvSpPr>
        <p:spPr>
          <a:xfrm>
            <a:off x="877824" y="2560320"/>
            <a:ext cx="3163824" cy="3602736"/>
          </a:xfrm>
          <a:prstGeom prst="rect">
            <a:avLst/>
          </a:prstGeom>
          <a:solidFill>
            <a:srgbClr val="FFFFFF"/>
          </a:solidFill>
          <a:ln w="15875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7" name="Text 5"/>
          <p:cNvSpPr txBox="1"/>
          <p:nvPr/>
        </p:nvSpPr>
        <p:spPr>
          <a:xfrm>
            <a:off x="914400" y="2596896"/>
            <a:ext cx="30906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the field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artefacts kept on file</a:t>
            </a:r>
            <a:endParaRPr lang="en-US" sz="1200" dirty="0"/>
          </a:p>
        </p:txBody>
      </p:sp>
      <p:sp>
        <p:nvSpPr>
          <p:cNvPr id="5008" name="Shape 6"/>
          <p:cNvSpPr/>
          <p:nvPr/>
        </p:nvSpPr>
        <p:spPr>
          <a:xfrm>
            <a:off x="941832" y="3099816"/>
            <a:ext cx="896295" cy="1627632"/>
          </a:xfrm>
          <a:prstGeom prst="rect">
            <a:avLst/>
          </a:prstGeom>
          <a:solidFill>
            <a:srgbClr val="FFFFFF"/>
          </a:solidFill>
          <a:ln w="15875">
            <a:solidFill>
              <a:srgbClr val="F39C12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009" name="Image 0" descr="Interview eviden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3127248"/>
            <a:ext cx="841431" cy="1572768"/>
          </a:xfrm>
          <a:prstGeom prst="rect">
            <a:avLst/>
          </a:prstGeom>
        </p:spPr>
      </p:pic>
      <p:sp>
        <p:nvSpPr>
          <p:cNvPr id="5010" name="Text 7"/>
          <p:cNvSpPr txBox="1"/>
          <p:nvPr/>
        </p:nvSpPr>
        <p:spPr>
          <a:xfrm>
            <a:off x="877824" y="4754880"/>
            <a:ext cx="1024311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outreach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first reply</a:t>
            </a:r>
            <a:endParaRPr lang="en-US" sz="900" dirty="0"/>
          </a:p>
        </p:txBody>
      </p:sp>
      <p:sp>
        <p:nvSpPr>
          <p:cNvPr id="5011" name="Shape 8"/>
          <p:cNvSpPr/>
          <p:nvPr/>
        </p:nvSpPr>
        <p:spPr>
          <a:xfrm>
            <a:off x="1911279" y="3099816"/>
            <a:ext cx="936790" cy="1627632"/>
          </a:xfrm>
          <a:prstGeom prst="rect">
            <a:avLst/>
          </a:prstGeom>
          <a:solidFill>
            <a:srgbClr val="FFFFFF"/>
          </a:solidFill>
          <a:ln w="15875">
            <a:solidFill>
              <a:srgbClr val="F39C12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012" name="Image 1" descr="Interview eviden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711" y="3127248"/>
            <a:ext cx="881926" cy="1572768"/>
          </a:xfrm>
          <a:prstGeom prst="rect">
            <a:avLst/>
          </a:prstGeom>
        </p:spPr>
      </p:pic>
      <p:sp>
        <p:nvSpPr>
          <p:cNvPr id="5013" name="Text 9"/>
          <p:cNvSpPr txBox="1"/>
          <p:nvPr/>
        </p:nvSpPr>
        <p:spPr>
          <a:xfrm>
            <a:off x="1847271" y="4754880"/>
            <a:ext cx="106480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 g billed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7,500 g</a:t>
            </a:r>
            <a:endParaRPr lang="en-US" sz="900" dirty="0"/>
          </a:p>
        </p:txBody>
      </p:sp>
      <p:sp>
        <p:nvSpPr>
          <p:cNvPr id="5014" name="Shape 10"/>
          <p:cNvSpPr/>
          <p:nvPr/>
        </p:nvSpPr>
        <p:spPr>
          <a:xfrm>
            <a:off x="2921221" y="3099816"/>
            <a:ext cx="1160473" cy="1627632"/>
          </a:xfrm>
          <a:prstGeom prst="rect">
            <a:avLst/>
          </a:prstGeom>
          <a:solidFill>
            <a:srgbClr val="FFFFFF"/>
          </a:solidFill>
          <a:ln w="15875">
            <a:solidFill>
              <a:srgbClr val="F39C12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015" name="Image 2" descr="Interview evidenc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8653" y="3127248"/>
            <a:ext cx="1105609" cy="1572768"/>
          </a:xfrm>
          <a:prstGeom prst="rect">
            <a:avLst/>
          </a:prstGeom>
        </p:spPr>
      </p:pic>
      <p:sp>
        <p:nvSpPr>
          <p:cNvPr id="5016" name="Text 11"/>
          <p:cNvSpPr txBox="1"/>
          <p:nvPr/>
        </p:nvSpPr>
        <p:spPr>
          <a:xfrm>
            <a:off x="2857213" y="4754880"/>
            <a:ext cx="1288489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notes: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SKUs, returns, RTO</a:t>
            </a:r>
            <a:endParaRPr lang="en-US" sz="900" dirty="0"/>
          </a:p>
        </p:txBody>
      </p:sp>
      <p:sp>
        <p:nvSpPr>
          <p:cNvPr id="5017" name="Shape 12"/>
          <p:cNvSpPr/>
          <p:nvPr/>
        </p:nvSpPr>
        <p:spPr>
          <a:xfrm>
            <a:off x="1097280" y="5230368"/>
            <a:ext cx="2743200" cy="0"/>
          </a:xfrm>
          <a:prstGeom prst="line">
            <a:avLst/>
          </a:prstGeom>
          <a:noFill/>
          <a:ln w="12700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8" name="Text 13"/>
          <p:cNvSpPr txBox="1"/>
          <p:nvPr/>
        </p:nvSpPr>
        <p:spPr>
          <a:xfrm>
            <a:off x="914400" y="5285232"/>
            <a:ext cx="309067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Voices mapped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</a:t>
            </a: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</a:t>
            </a: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In-person   </a:t>
            </a:r>
            <a:r>
              <a:rPr lang="en-US" sz="10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 </a:t>
            </a: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65259"/>
              </p:ext>
            </p:extLst>
          </p:nvPr>
        </p:nvGraphicFramePr>
        <p:xfrm>
          <a:off x="4145702" y="2906268"/>
          <a:ext cx="13789152" cy="308152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Opinion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Area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Implication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60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Organic fertiliser combo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Meesho seller, interviewed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"Due to this incorrect weight calculation, the selling price shown to customers increases significantly… causing me to lose orders."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750 g pack billed as 7,500 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Orders 500+/day → 8–10/day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Tickets closed with generic replies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Input accuracy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Support &amp; trust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sanity check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alert before slab change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Itemised settlement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human escalation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◇  Ethnic-wear wholesaler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Surat · 11 yrs offline, 1 yr online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"Market decides price, not me. If I increase ₹20, orders stop."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Prices at competitor median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Doesn't know net payout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~8–9 of 30 orders come back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Market anchoring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Returns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floor vs market band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returns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into the floor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◇  Kitchen &amp; plastics trader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Purana Bazar, Dhanbad · 5 months online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"Shop me 320 chalta hai, so online bhi 320. Nobody told me box size matters."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Offline price carried over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Bulky rack nets only ₹60–70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"Cost" = purchase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Hidden shipping cost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Pricing literacy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Cost-to-serve wizard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at listing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SKU viability check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for bulky items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◇  Jewellery seller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Damodarpur</a:t>
                      </a: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Dhanbad · Instagram-first, 2 yrs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"My pricing is basically one step above the cheapest guy. Sheet price is kind of useless."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Sheet says ₹139, market ₹99–109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Inputs 8 months stale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COD RTO ~20% in some pin codes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Stale inputs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COD RTO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Auto-refreshed inputs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&amp; drift alerts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RTO priors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by pin &amp; payment mode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◇  Winterwear seller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950" dirty="0" err="1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Hirapur</a:t>
                      </a:r>
                      <a:r>
                        <a:rPr lang="en-US" sz="95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Dhanbad · churned after 2 seasons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5B13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"Weight they decide, return they decide, claim they reject, payment they cut."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Undercut rivals by ₹50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❖ 70–80 late returns became dead stock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Seasonality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❑ Control &amp; trust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Season-end markdown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to cash floor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Settlement explainer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B4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20" name="Text 14">
            <a:hlinkClick r:id="rId9"/>
          </p:cNvPr>
          <p:cNvSpPr txBox="1"/>
          <p:nvPr/>
        </p:nvSpPr>
        <p:spPr>
          <a:xfrm>
            <a:off x="3023576" y="5752591"/>
            <a:ext cx="908344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2B2B2B"/>
                </a:solidFill>
                <a:highlight>
                  <a:srgbClr val="00FFFF"/>
                </a:highlight>
                <a:latin typeface="Arial" pitchFamily="34" charset="0"/>
                <a:ea typeface="Arial" charset="0"/>
                <a:cs typeface="Arial" pitchFamily="34" charset="-120"/>
              </a:rPr>
              <a:t>SOURCE</a:t>
            </a:r>
            <a:endParaRPr lang="en-US" sz="1600" u="sng" dirty="0">
              <a:highlight>
                <a:srgbClr val="00FFFF"/>
              </a:highlight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021" name="Shape 15"/>
          <p:cNvSpPr/>
          <p:nvPr/>
        </p:nvSpPr>
        <p:spPr>
          <a:xfrm>
            <a:off x="365760" y="6675120"/>
            <a:ext cx="4288536" cy="2286000"/>
          </a:xfrm>
          <a:prstGeom prst="rect">
            <a:avLst/>
          </a:prstGeom>
          <a:solidFill>
            <a:srgbClr val="FFF7EA"/>
          </a:solidFill>
          <a:ln w="2222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2" name="Text 16"/>
          <p:cNvSpPr txBox="1"/>
          <p:nvPr/>
        </p:nvSpPr>
        <p:spPr>
          <a:xfrm>
            <a:off x="475488" y="6711696"/>
            <a:ext cx="4105656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 (TODAY)</a:t>
            </a:r>
            <a:endParaRPr lang="en-US" sz="1350" dirty="0"/>
          </a:p>
        </p:txBody>
      </p:sp>
      <p:sp>
        <p:nvSpPr>
          <p:cNvPr id="5023" name="Shape 17"/>
          <p:cNvSpPr/>
          <p:nvPr/>
        </p:nvSpPr>
        <p:spPr>
          <a:xfrm>
            <a:off x="896112" y="7059168"/>
            <a:ext cx="402336" cy="402336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24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2673" y="7155729"/>
            <a:ext cx="209215" cy="209215"/>
          </a:xfrm>
          <a:prstGeom prst="rect">
            <a:avLst/>
          </a:prstGeom>
        </p:spPr>
      </p:pic>
      <p:sp>
        <p:nvSpPr>
          <p:cNvPr id="5025" name="Text 18"/>
          <p:cNvSpPr txBox="1"/>
          <p:nvPr/>
        </p:nvSpPr>
        <p:spPr>
          <a:xfrm>
            <a:off x="457200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data</a:t>
            </a:r>
            <a:endParaRPr lang="en-US" sz="900" dirty="0"/>
          </a:p>
        </p:txBody>
      </p:sp>
      <p:pic>
        <p:nvPicPr>
          <p:cNvPr id="5026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9928" y="7178040"/>
            <a:ext cx="182880" cy="182880"/>
          </a:xfrm>
          <a:prstGeom prst="rect">
            <a:avLst/>
          </a:prstGeom>
        </p:spPr>
      </p:pic>
      <p:sp>
        <p:nvSpPr>
          <p:cNvPr id="5027" name="Shape 19"/>
          <p:cNvSpPr/>
          <p:nvPr/>
        </p:nvSpPr>
        <p:spPr>
          <a:xfrm>
            <a:off x="2313432" y="7059168"/>
            <a:ext cx="402336" cy="40233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28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09993" y="7155729"/>
            <a:ext cx="209215" cy="209215"/>
          </a:xfrm>
          <a:prstGeom prst="rect">
            <a:avLst/>
          </a:prstGeom>
        </p:spPr>
      </p:pic>
      <p:sp>
        <p:nvSpPr>
          <p:cNvPr id="5029" name="Text 20"/>
          <p:cNvSpPr txBox="1"/>
          <p:nvPr/>
        </p:nvSpPr>
        <p:spPr>
          <a:xfrm>
            <a:off x="1874520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00" dirty="0"/>
          </a:p>
        </p:txBody>
      </p:sp>
      <p:pic>
        <p:nvPicPr>
          <p:cNvPr id="5030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7248" y="7178040"/>
            <a:ext cx="182880" cy="182880"/>
          </a:xfrm>
          <a:prstGeom prst="rect">
            <a:avLst/>
          </a:prstGeom>
        </p:spPr>
      </p:pic>
      <p:sp>
        <p:nvSpPr>
          <p:cNvPr id="5031" name="Shape 21"/>
          <p:cNvSpPr/>
          <p:nvPr/>
        </p:nvSpPr>
        <p:spPr>
          <a:xfrm>
            <a:off x="3730752" y="7059168"/>
            <a:ext cx="402336" cy="402336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32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7313" y="7155729"/>
            <a:ext cx="209215" cy="209215"/>
          </a:xfrm>
          <a:prstGeom prst="rect">
            <a:avLst/>
          </a:prstGeom>
        </p:spPr>
      </p:pic>
      <p:sp>
        <p:nvSpPr>
          <p:cNvPr id="5033" name="Text 22"/>
          <p:cNvSpPr txBox="1"/>
          <p:nvPr/>
        </p:nvSpPr>
        <p:spPr>
          <a:xfrm>
            <a:off x="3291840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accepts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edits</a:t>
            </a:r>
            <a:endParaRPr lang="en-US" sz="900" dirty="0"/>
          </a:p>
        </p:txBody>
      </p:sp>
      <p:sp>
        <p:nvSpPr>
          <p:cNvPr id="5034" name="Text 23"/>
          <p:cNvSpPr txBox="1"/>
          <p:nvPr/>
        </p:nvSpPr>
        <p:spPr>
          <a:xfrm>
            <a:off x="475488" y="7744969"/>
            <a:ext cx="4142232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Recommendation: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price + transfer price shown</a:t>
            </a:r>
            <a:endParaRPr lang="en-US" sz="108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pricing: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auto-adjusts within seller min/max</a:t>
            </a:r>
            <a:endParaRPr lang="en-US" sz="108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price: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price if only wrong/defective returns</a:t>
            </a:r>
            <a:endParaRPr lang="en-US" sz="1080" dirty="0"/>
          </a:p>
        </p:txBody>
      </p:sp>
      <p:sp>
        <p:nvSpPr>
          <p:cNvPr id="5035" name="Shape 24"/>
          <p:cNvSpPr/>
          <p:nvPr/>
        </p:nvSpPr>
        <p:spPr>
          <a:xfrm>
            <a:off x="475488" y="8458200"/>
            <a:ext cx="4069080" cy="0"/>
          </a:xfrm>
          <a:prstGeom prst="line">
            <a:avLst/>
          </a:prstGeom>
          <a:noFill/>
          <a:ln w="12700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36" name="Image 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776" y="8549640"/>
            <a:ext cx="155448" cy="155448"/>
          </a:xfrm>
          <a:prstGeom prst="rect">
            <a:avLst/>
          </a:prstGeom>
        </p:spPr>
      </p:pic>
      <p:sp>
        <p:nvSpPr>
          <p:cNvPr id="5037" name="Text 25"/>
          <p:cNvSpPr txBox="1"/>
          <p:nvPr/>
        </p:nvSpPr>
        <p:spPr>
          <a:xfrm>
            <a:off x="694944" y="8485632"/>
            <a:ext cx="388620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from seller's cost + returns?  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ceiling signal; floor, weight check and lifecycle nudges missing</a:t>
            </a:r>
            <a:endParaRPr lang="en-US" sz="1000" dirty="0"/>
          </a:p>
        </p:txBody>
      </p:sp>
      <p:sp>
        <p:nvSpPr>
          <p:cNvPr id="5038" name="Shape 26"/>
          <p:cNvSpPr/>
          <p:nvPr/>
        </p:nvSpPr>
        <p:spPr>
          <a:xfrm>
            <a:off x="4788713" y="6675120"/>
            <a:ext cx="4288536" cy="2286000"/>
          </a:xfrm>
          <a:prstGeom prst="rect">
            <a:avLst/>
          </a:prstGeom>
          <a:solidFill>
            <a:srgbClr val="FBF3F8"/>
          </a:solidFill>
          <a:ln w="22225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9" name="Text 27"/>
          <p:cNvSpPr txBox="1"/>
          <p:nvPr/>
        </p:nvSpPr>
        <p:spPr>
          <a:xfrm>
            <a:off x="4898441" y="6711696"/>
            <a:ext cx="4105656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1350" dirty="0"/>
          </a:p>
        </p:txBody>
      </p:sp>
      <p:sp>
        <p:nvSpPr>
          <p:cNvPr id="5040" name="Shape 28"/>
          <p:cNvSpPr/>
          <p:nvPr/>
        </p:nvSpPr>
        <p:spPr>
          <a:xfrm>
            <a:off x="5319065" y="7059168"/>
            <a:ext cx="402336" cy="402336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41" name="Image 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15625" y="7155729"/>
            <a:ext cx="209215" cy="209215"/>
          </a:xfrm>
          <a:prstGeom prst="rect">
            <a:avLst/>
          </a:prstGeom>
        </p:spPr>
      </p:pic>
      <p:sp>
        <p:nvSpPr>
          <p:cNvPr id="5042" name="Text 29"/>
          <p:cNvSpPr txBox="1"/>
          <p:nvPr/>
        </p:nvSpPr>
        <p:spPr>
          <a:xfrm>
            <a:off x="4880153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</a:t>
            </a:r>
            <a:endParaRPr lang="en-US" sz="900" dirty="0"/>
          </a:p>
        </p:txBody>
      </p:sp>
      <p:pic>
        <p:nvPicPr>
          <p:cNvPr id="504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2881" y="7178040"/>
            <a:ext cx="182880" cy="182880"/>
          </a:xfrm>
          <a:prstGeom prst="rect">
            <a:avLst/>
          </a:prstGeom>
        </p:spPr>
      </p:pic>
      <p:sp>
        <p:nvSpPr>
          <p:cNvPr id="5044" name="Shape 30"/>
          <p:cNvSpPr/>
          <p:nvPr/>
        </p:nvSpPr>
        <p:spPr>
          <a:xfrm>
            <a:off x="6736385" y="7059168"/>
            <a:ext cx="402336" cy="40233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45" name="Image 1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32945" y="7155729"/>
            <a:ext cx="209215" cy="209215"/>
          </a:xfrm>
          <a:prstGeom prst="rect">
            <a:avLst/>
          </a:prstGeom>
        </p:spPr>
      </p:pic>
      <p:sp>
        <p:nvSpPr>
          <p:cNvPr id="5046" name="Text 31"/>
          <p:cNvSpPr txBox="1"/>
          <p:nvPr/>
        </p:nvSpPr>
        <p:spPr>
          <a:xfrm>
            <a:off x="6297473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900" dirty="0"/>
          </a:p>
        </p:txBody>
      </p:sp>
      <p:pic>
        <p:nvPicPr>
          <p:cNvPr id="5047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0201" y="7178040"/>
            <a:ext cx="182880" cy="182880"/>
          </a:xfrm>
          <a:prstGeom prst="rect">
            <a:avLst/>
          </a:prstGeom>
        </p:spPr>
      </p:pic>
      <p:sp>
        <p:nvSpPr>
          <p:cNvPr id="5048" name="Shape 32"/>
          <p:cNvSpPr/>
          <p:nvPr/>
        </p:nvSpPr>
        <p:spPr>
          <a:xfrm>
            <a:off x="8153705" y="7059168"/>
            <a:ext cx="402336" cy="402336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49" name="Image 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0265" y="7155729"/>
            <a:ext cx="209215" cy="209215"/>
          </a:xfrm>
          <a:prstGeom prst="rect">
            <a:avLst/>
          </a:prstGeom>
        </p:spPr>
      </p:pic>
      <p:sp>
        <p:nvSpPr>
          <p:cNvPr id="5050" name="Text 33"/>
          <p:cNvSpPr txBox="1"/>
          <p:nvPr/>
        </p:nvSpPr>
        <p:spPr>
          <a:xfrm>
            <a:off x="7714793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900" dirty="0"/>
          </a:p>
        </p:txBody>
      </p:sp>
      <p:sp>
        <p:nvSpPr>
          <p:cNvPr id="5051" name="Text 34"/>
          <p:cNvSpPr txBox="1"/>
          <p:nvPr/>
        </p:nvSpPr>
        <p:spPr>
          <a:xfrm>
            <a:off x="4861865" y="7818120"/>
            <a:ext cx="4142232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Calculator: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estimate from fees</a:t>
            </a:r>
            <a:endParaRPr lang="en-US" sz="108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Health: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pricing errors, offers near Featured Offer</a:t>
            </a:r>
            <a:endParaRPr lang="en-US" sz="108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Pricing: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or sales-based rules</a:t>
            </a:r>
            <a:endParaRPr lang="en-US" sz="1080" dirty="0"/>
          </a:p>
        </p:txBody>
      </p:sp>
      <p:sp>
        <p:nvSpPr>
          <p:cNvPr id="5052" name="Shape 35"/>
          <p:cNvSpPr/>
          <p:nvPr/>
        </p:nvSpPr>
        <p:spPr>
          <a:xfrm>
            <a:off x="4898441" y="8458200"/>
            <a:ext cx="4069080" cy="0"/>
          </a:xfrm>
          <a:prstGeom prst="line">
            <a:avLst/>
          </a:prstGeom>
          <a:noFill/>
          <a:ln w="12700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53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6729" y="8549640"/>
            <a:ext cx="155448" cy="155448"/>
          </a:xfrm>
          <a:prstGeom prst="rect">
            <a:avLst/>
          </a:prstGeom>
        </p:spPr>
      </p:pic>
      <p:sp>
        <p:nvSpPr>
          <p:cNvPr id="5054" name="Text 36"/>
          <p:cNvSpPr txBox="1"/>
          <p:nvPr/>
        </p:nvSpPr>
        <p:spPr>
          <a:xfrm>
            <a:off x="5117897" y="8485632"/>
            <a:ext cx="388620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from seller's cost + returns?  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profit check from competitiveness; seller supplies own cost</a:t>
            </a:r>
            <a:endParaRPr lang="en-US" sz="1000" dirty="0"/>
          </a:p>
        </p:txBody>
      </p:sp>
      <p:sp>
        <p:nvSpPr>
          <p:cNvPr id="5055" name="Shape 37"/>
          <p:cNvSpPr/>
          <p:nvPr/>
        </p:nvSpPr>
        <p:spPr>
          <a:xfrm>
            <a:off x="9211666" y="6675120"/>
            <a:ext cx="4288536" cy="2286000"/>
          </a:xfrm>
          <a:prstGeom prst="rect">
            <a:avLst/>
          </a:prstGeom>
          <a:solidFill>
            <a:srgbClr val="FFF7EA"/>
          </a:solidFill>
          <a:ln w="2222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6" name="Text 38"/>
          <p:cNvSpPr txBox="1"/>
          <p:nvPr/>
        </p:nvSpPr>
        <p:spPr>
          <a:xfrm>
            <a:off x="9321394" y="6711696"/>
            <a:ext cx="4105656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FLIPKART</a:t>
            </a:r>
            <a:endParaRPr lang="en-US" sz="1350" dirty="0"/>
          </a:p>
        </p:txBody>
      </p:sp>
      <p:sp>
        <p:nvSpPr>
          <p:cNvPr id="5057" name="Shape 39"/>
          <p:cNvSpPr/>
          <p:nvPr/>
        </p:nvSpPr>
        <p:spPr>
          <a:xfrm>
            <a:off x="9742018" y="7059168"/>
            <a:ext cx="402336" cy="402336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58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8578" y="7155729"/>
            <a:ext cx="209215" cy="209215"/>
          </a:xfrm>
          <a:prstGeom prst="rect">
            <a:avLst/>
          </a:prstGeom>
        </p:spPr>
      </p:pic>
      <p:sp>
        <p:nvSpPr>
          <p:cNvPr id="5059" name="Text 40"/>
          <p:cNvSpPr txBox="1"/>
          <p:nvPr/>
        </p:nvSpPr>
        <p:spPr>
          <a:xfrm>
            <a:off x="9303106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</a:t>
            </a:r>
            <a:endParaRPr lang="en-US" sz="900" dirty="0"/>
          </a:p>
        </p:txBody>
      </p:sp>
      <p:pic>
        <p:nvPicPr>
          <p:cNvPr id="5060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5834" y="7178040"/>
            <a:ext cx="182880" cy="182880"/>
          </a:xfrm>
          <a:prstGeom prst="rect">
            <a:avLst/>
          </a:prstGeom>
        </p:spPr>
      </p:pic>
      <p:sp>
        <p:nvSpPr>
          <p:cNvPr id="5061" name="Shape 41"/>
          <p:cNvSpPr/>
          <p:nvPr/>
        </p:nvSpPr>
        <p:spPr>
          <a:xfrm>
            <a:off x="11159338" y="7059168"/>
            <a:ext cx="402336" cy="40233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62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55898" y="7155729"/>
            <a:ext cx="209215" cy="209215"/>
          </a:xfrm>
          <a:prstGeom prst="rect">
            <a:avLst/>
          </a:prstGeom>
        </p:spPr>
      </p:pic>
      <p:sp>
        <p:nvSpPr>
          <p:cNvPr id="5063" name="Text 42"/>
          <p:cNvSpPr txBox="1"/>
          <p:nvPr/>
        </p:nvSpPr>
        <p:spPr>
          <a:xfrm>
            <a:off x="10720426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Rec.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pic>
        <p:nvPicPr>
          <p:cNvPr id="5064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73154" y="7178040"/>
            <a:ext cx="182880" cy="182880"/>
          </a:xfrm>
          <a:prstGeom prst="rect">
            <a:avLst/>
          </a:prstGeom>
        </p:spPr>
      </p:pic>
      <p:sp>
        <p:nvSpPr>
          <p:cNvPr id="5065" name="Shape 43"/>
          <p:cNvSpPr/>
          <p:nvPr/>
        </p:nvSpPr>
        <p:spPr>
          <a:xfrm>
            <a:off x="12576658" y="7059168"/>
            <a:ext cx="402336" cy="402336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66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673218" y="7155729"/>
            <a:ext cx="209215" cy="209215"/>
          </a:xfrm>
          <a:prstGeom prst="rect">
            <a:avLst/>
          </a:prstGeom>
        </p:spPr>
      </p:pic>
      <p:sp>
        <p:nvSpPr>
          <p:cNvPr id="5067" name="Text 44"/>
          <p:cNvSpPr txBox="1"/>
          <p:nvPr/>
        </p:nvSpPr>
        <p:spPr>
          <a:xfrm>
            <a:off x="12137746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account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900" dirty="0"/>
          </a:p>
        </p:txBody>
      </p:sp>
      <p:sp>
        <p:nvSpPr>
          <p:cNvPr id="5068" name="Text 45"/>
          <p:cNvSpPr txBox="1"/>
          <p:nvPr/>
        </p:nvSpPr>
        <p:spPr>
          <a:xfrm>
            <a:off x="9278874" y="7834884"/>
            <a:ext cx="4288536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Recommendation Tool: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from market trends &amp; insights</a:t>
            </a:r>
            <a:endParaRPr lang="en-US" sz="108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Hub: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returns, inventory dashboards</a:t>
            </a:r>
            <a:endParaRPr lang="en-US" sz="108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help: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offered as a paid service</a:t>
            </a:r>
            <a:endParaRPr lang="en-US" sz="1080" dirty="0"/>
          </a:p>
        </p:txBody>
      </p:sp>
      <p:sp>
        <p:nvSpPr>
          <p:cNvPr id="5069" name="Shape 46"/>
          <p:cNvSpPr/>
          <p:nvPr/>
        </p:nvSpPr>
        <p:spPr>
          <a:xfrm>
            <a:off x="9321394" y="8458200"/>
            <a:ext cx="4069080" cy="0"/>
          </a:xfrm>
          <a:prstGeom prst="line">
            <a:avLst/>
          </a:prstGeom>
          <a:noFill/>
          <a:ln w="12700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70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9682" y="8549640"/>
            <a:ext cx="155448" cy="155448"/>
          </a:xfrm>
          <a:prstGeom prst="rect">
            <a:avLst/>
          </a:prstGeom>
        </p:spPr>
      </p:pic>
      <p:sp>
        <p:nvSpPr>
          <p:cNvPr id="5071" name="Text 47"/>
          <p:cNvSpPr txBox="1"/>
          <p:nvPr/>
        </p:nvSpPr>
        <p:spPr>
          <a:xfrm>
            <a:off x="9540850" y="8485632"/>
            <a:ext cx="388620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from seller's cost + returns?  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for low-literacy sellers sits behind a paywall</a:t>
            </a:r>
            <a:endParaRPr lang="en-US" sz="1000" dirty="0"/>
          </a:p>
        </p:txBody>
      </p:sp>
      <p:sp>
        <p:nvSpPr>
          <p:cNvPr id="5072" name="Shape 48"/>
          <p:cNvSpPr/>
          <p:nvPr/>
        </p:nvSpPr>
        <p:spPr>
          <a:xfrm>
            <a:off x="13634618" y="6675120"/>
            <a:ext cx="4288536" cy="2286000"/>
          </a:xfrm>
          <a:prstGeom prst="rect">
            <a:avLst/>
          </a:prstGeom>
          <a:solidFill>
            <a:srgbClr val="FBF3F8"/>
          </a:solidFill>
          <a:ln w="22225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3" name="Text 49"/>
          <p:cNvSpPr txBox="1"/>
          <p:nvPr/>
        </p:nvSpPr>
        <p:spPr>
          <a:xfrm>
            <a:off x="13744346" y="6711696"/>
            <a:ext cx="4105656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WALMART MARKETPLACE</a:t>
            </a:r>
            <a:endParaRPr lang="en-US" sz="1350" dirty="0"/>
          </a:p>
        </p:txBody>
      </p:sp>
      <p:sp>
        <p:nvSpPr>
          <p:cNvPr id="5074" name="Shape 50"/>
          <p:cNvSpPr/>
          <p:nvPr/>
        </p:nvSpPr>
        <p:spPr>
          <a:xfrm>
            <a:off x="14164970" y="7059168"/>
            <a:ext cx="402336" cy="402336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75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261531" y="7155729"/>
            <a:ext cx="209215" cy="209215"/>
          </a:xfrm>
          <a:prstGeom prst="rect">
            <a:avLst/>
          </a:prstGeom>
        </p:spPr>
      </p:pic>
      <p:sp>
        <p:nvSpPr>
          <p:cNvPr id="5076" name="Text 51"/>
          <p:cNvSpPr txBox="1"/>
          <p:nvPr/>
        </p:nvSpPr>
        <p:spPr>
          <a:xfrm>
            <a:off x="13726058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min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price</a:t>
            </a:r>
            <a:endParaRPr lang="en-US" sz="900" dirty="0"/>
          </a:p>
        </p:txBody>
      </p:sp>
      <p:pic>
        <p:nvPicPr>
          <p:cNvPr id="5077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78786" y="7178040"/>
            <a:ext cx="182880" cy="182880"/>
          </a:xfrm>
          <a:prstGeom prst="rect">
            <a:avLst/>
          </a:prstGeom>
        </p:spPr>
      </p:pic>
      <p:sp>
        <p:nvSpPr>
          <p:cNvPr id="5078" name="Shape 52"/>
          <p:cNvSpPr/>
          <p:nvPr/>
        </p:nvSpPr>
        <p:spPr>
          <a:xfrm>
            <a:off x="15582290" y="7059168"/>
            <a:ext cx="402336" cy="40233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79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678851" y="7155729"/>
            <a:ext cx="209215" cy="209215"/>
          </a:xfrm>
          <a:prstGeom prst="rect">
            <a:avLst/>
          </a:prstGeom>
        </p:spPr>
      </p:pic>
      <p:sp>
        <p:nvSpPr>
          <p:cNvPr id="5080" name="Text 53"/>
          <p:cNvSpPr txBox="1"/>
          <p:nvPr/>
        </p:nvSpPr>
        <p:spPr>
          <a:xfrm>
            <a:off x="15143378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Repricer</a:t>
            </a:r>
            <a:endParaRPr lang="en-US" sz="900" dirty="0"/>
          </a:p>
        </p:txBody>
      </p:sp>
      <p:pic>
        <p:nvPicPr>
          <p:cNvPr id="5081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96106" y="7178040"/>
            <a:ext cx="182880" cy="182880"/>
          </a:xfrm>
          <a:prstGeom prst="rect">
            <a:avLst/>
          </a:prstGeom>
        </p:spPr>
      </p:pic>
      <p:sp>
        <p:nvSpPr>
          <p:cNvPr id="5082" name="Shape 54"/>
          <p:cNvSpPr/>
          <p:nvPr/>
        </p:nvSpPr>
        <p:spPr>
          <a:xfrm>
            <a:off x="16999610" y="7059168"/>
            <a:ext cx="402336" cy="402336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83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096171" y="7155729"/>
            <a:ext cx="209215" cy="209215"/>
          </a:xfrm>
          <a:prstGeom prst="rect">
            <a:avLst/>
          </a:prstGeom>
        </p:spPr>
      </p:pic>
      <p:sp>
        <p:nvSpPr>
          <p:cNvPr id="5084" name="Text 55"/>
          <p:cNvSpPr txBox="1"/>
          <p:nvPr/>
        </p:nvSpPr>
        <p:spPr>
          <a:xfrm>
            <a:off x="16560698" y="74797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900" dirty="0"/>
          </a:p>
        </p:txBody>
      </p:sp>
      <p:sp>
        <p:nvSpPr>
          <p:cNvPr id="5085" name="Text 56"/>
          <p:cNvSpPr txBox="1"/>
          <p:nvPr/>
        </p:nvSpPr>
        <p:spPr>
          <a:xfrm>
            <a:off x="13707770" y="7818120"/>
            <a:ext cx="4142232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Repricer: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only within seller-set min &amp; max price</a:t>
            </a:r>
            <a:endParaRPr lang="en-US" sz="108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Insights: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competitiveness score, Buy Box win rate</a:t>
            </a:r>
            <a:endParaRPr lang="en-US" sz="108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08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rules: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unpublish highly uncompetitive offers</a:t>
            </a:r>
            <a:endParaRPr lang="en-US" sz="1080" dirty="0"/>
          </a:p>
        </p:txBody>
      </p:sp>
      <p:sp>
        <p:nvSpPr>
          <p:cNvPr id="5086" name="Shape 57"/>
          <p:cNvSpPr/>
          <p:nvPr/>
        </p:nvSpPr>
        <p:spPr>
          <a:xfrm>
            <a:off x="13744346" y="8458200"/>
            <a:ext cx="4069080" cy="0"/>
          </a:xfrm>
          <a:prstGeom prst="line">
            <a:avLst/>
          </a:prstGeom>
          <a:noFill/>
          <a:ln w="12700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87" name="Image 2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62634" y="8549640"/>
            <a:ext cx="155448" cy="155448"/>
          </a:xfrm>
          <a:prstGeom prst="rect">
            <a:avLst/>
          </a:prstGeom>
        </p:spPr>
      </p:pic>
      <p:sp>
        <p:nvSpPr>
          <p:cNvPr id="5088" name="Text 58"/>
          <p:cNvSpPr txBox="1"/>
          <p:nvPr/>
        </p:nvSpPr>
        <p:spPr>
          <a:xfrm>
            <a:off x="13963802" y="8485632"/>
            <a:ext cx="388620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from seller's cost + returns?  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price is a mandatory guardrail; account score acts as north star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15" name="Google Shape;115;p4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16" name="Google Shape;116;p4"/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17" name="Google Shape;117;p4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9" name="Google Shape;119;p4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" name="Google Shape;120;p4"/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02" name="Text 0"/>
          <p:cNvSpPr txBox="1"/>
          <p:nvPr/>
        </p:nvSpPr>
        <p:spPr>
          <a:xfrm>
            <a:off x="4572000" y="45720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Seller Should Reason to a Price</a:t>
            </a:r>
            <a:endParaRPr lang="en-US" sz="3000" dirty="0"/>
          </a:p>
        </p:txBody>
      </p:sp>
      <p:sp>
        <p:nvSpPr>
          <p:cNvPr id="5003" name="Text 1"/>
          <p:cNvSpPr txBox="1"/>
          <p:nvPr/>
        </p:nvSpPr>
        <p:spPr>
          <a:xfrm>
            <a:off x="4572000" y="15544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true cost to a market-ready number, including the first price with no sales history</a:t>
            </a:r>
            <a:endParaRPr lang="en-US" sz="1400" dirty="0"/>
          </a:p>
        </p:txBody>
      </p:sp>
      <p:sp>
        <p:nvSpPr>
          <p:cNvPr id="5004" name="Shape 2"/>
          <p:cNvSpPr/>
          <p:nvPr/>
        </p:nvSpPr>
        <p:spPr>
          <a:xfrm>
            <a:off x="365760" y="2560320"/>
            <a:ext cx="17556480" cy="1783080"/>
          </a:xfrm>
          <a:prstGeom prst="roundRect">
            <a:avLst>
              <a:gd name="adj" fmla="val 5128"/>
            </a:avLst>
          </a:prstGeom>
          <a:solidFill>
            <a:srgbClr val="FFF7EA"/>
          </a:solidFill>
          <a:ln w="15875">
            <a:solidFill>
              <a:srgbClr val="F2D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5" name="Text 3"/>
          <p:cNvSpPr txBox="1"/>
          <p:nvPr/>
        </p:nvSpPr>
        <p:spPr>
          <a:xfrm>
            <a:off x="548640" y="2596896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pricing breaks today: </a:t>
            </a:r>
            <a:r>
              <a:rPr lang="en-US" sz="1450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Price-to-Bank journey of a new-to-online seller</a:t>
            </a:r>
            <a:endParaRPr lang="en-US" sz="1450" dirty="0"/>
          </a:p>
        </p:txBody>
      </p:sp>
      <p:sp>
        <p:nvSpPr>
          <p:cNvPr id="5006" name="Shape 4"/>
          <p:cNvSpPr/>
          <p:nvPr/>
        </p:nvSpPr>
        <p:spPr>
          <a:xfrm>
            <a:off x="548640" y="2999232"/>
            <a:ext cx="512064" cy="512064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07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35" y="3122127"/>
            <a:ext cx="266273" cy="266273"/>
          </a:xfrm>
          <a:prstGeom prst="rect">
            <a:avLst/>
          </a:prstGeom>
        </p:spPr>
      </p:pic>
      <p:sp>
        <p:nvSpPr>
          <p:cNvPr id="5008" name="Text 5"/>
          <p:cNvSpPr txBox="1"/>
          <p:nvPr/>
        </p:nvSpPr>
        <p:spPr>
          <a:xfrm>
            <a:off x="1152144" y="2999232"/>
            <a:ext cx="25968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sets price</a:t>
            </a:r>
            <a:endParaRPr lang="en-US" sz="1450" dirty="0"/>
          </a:p>
        </p:txBody>
      </p:sp>
      <p:sp>
        <p:nvSpPr>
          <p:cNvPr id="5009" name="Text 6"/>
          <p:cNvSpPr txBox="1"/>
          <p:nvPr/>
        </p:nvSpPr>
        <p:spPr>
          <a:xfrm>
            <a:off x="54864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price carried over or cheapest copied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"Cost" = purchase rate only</a:t>
            </a:r>
            <a:endParaRPr lang="en-US" sz="1150" dirty="0"/>
          </a:p>
        </p:txBody>
      </p:sp>
      <p:pic>
        <p:nvPicPr>
          <p:cNvPr id="5010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044" y="3127248"/>
            <a:ext cx="256032" cy="256032"/>
          </a:xfrm>
          <a:prstGeom prst="rect">
            <a:avLst/>
          </a:prstGeom>
        </p:spPr>
      </p:pic>
      <p:sp>
        <p:nvSpPr>
          <p:cNvPr id="5011" name="Shape 7"/>
          <p:cNvSpPr/>
          <p:nvPr/>
        </p:nvSpPr>
        <p:spPr>
          <a:xfrm>
            <a:off x="4069080" y="2999232"/>
            <a:ext cx="512064" cy="512064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12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975" y="3122127"/>
            <a:ext cx="266273" cy="266273"/>
          </a:xfrm>
          <a:prstGeom prst="rect">
            <a:avLst/>
          </a:prstGeom>
        </p:spPr>
      </p:pic>
      <p:sp>
        <p:nvSpPr>
          <p:cNvPr id="5013" name="Text 8"/>
          <p:cNvSpPr txBox="1"/>
          <p:nvPr/>
        </p:nvSpPr>
        <p:spPr>
          <a:xfrm>
            <a:off x="4672584" y="2999232"/>
            <a:ext cx="25968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data</a:t>
            </a:r>
            <a:endParaRPr lang="en-US" sz="1450" dirty="0"/>
          </a:p>
        </p:txBody>
      </p:sp>
      <p:sp>
        <p:nvSpPr>
          <p:cNvPr id="5014" name="Text 9"/>
          <p:cNvSpPr txBox="1"/>
          <p:nvPr/>
        </p:nvSpPr>
        <p:spPr>
          <a:xfrm>
            <a:off x="406908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&amp; dimensions set the shipping slab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option picked blindly</a:t>
            </a:r>
            <a:endParaRPr lang="en-US" sz="1150" dirty="0"/>
          </a:p>
        </p:txBody>
      </p:sp>
      <p:pic>
        <p:nvPicPr>
          <p:cNvPr id="50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1484" y="3127248"/>
            <a:ext cx="256032" cy="256032"/>
          </a:xfrm>
          <a:prstGeom prst="rect">
            <a:avLst/>
          </a:prstGeom>
        </p:spPr>
      </p:pic>
      <p:sp>
        <p:nvSpPr>
          <p:cNvPr id="5016" name="Shape 10"/>
          <p:cNvSpPr/>
          <p:nvPr/>
        </p:nvSpPr>
        <p:spPr>
          <a:xfrm>
            <a:off x="7589520" y="2999232"/>
            <a:ext cx="512064" cy="512064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17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2415" y="3122127"/>
            <a:ext cx="266273" cy="266273"/>
          </a:xfrm>
          <a:prstGeom prst="rect">
            <a:avLst/>
          </a:prstGeom>
        </p:spPr>
      </p:pic>
      <p:sp>
        <p:nvSpPr>
          <p:cNvPr id="5018" name="Text 11"/>
          <p:cNvSpPr txBox="1"/>
          <p:nvPr/>
        </p:nvSpPr>
        <p:spPr>
          <a:xfrm>
            <a:off x="8193024" y="2999232"/>
            <a:ext cx="25968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sees price</a:t>
            </a:r>
            <a:endParaRPr lang="en-US" sz="1450" dirty="0"/>
          </a:p>
        </p:txBody>
      </p:sp>
      <p:sp>
        <p:nvSpPr>
          <p:cNvPr id="5019" name="Text 12"/>
          <p:cNvSpPr txBox="1"/>
          <p:nvPr/>
        </p:nvSpPr>
        <p:spPr>
          <a:xfrm>
            <a:off x="758952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Side-by-side, compared in seconds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slab → inflated price → no orders</a:t>
            </a:r>
            <a:endParaRPr lang="en-US" sz="1150" dirty="0"/>
          </a:p>
        </p:txBody>
      </p:sp>
      <p:pic>
        <p:nvPicPr>
          <p:cNvPr id="50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1924" y="3127248"/>
            <a:ext cx="256032" cy="256032"/>
          </a:xfrm>
          <a:prstGeom prst="rect">
            <a:avLst/>
          </a:prstGeom>
        </p:spPr>
      </p:pic>
      <p:sp>
        <p:nvSpPr>
          <p:cNvPr id="5021" name="Shape 13"/>
          <p:cNvSpPr/>
          <p:nvPr/>
        </p:nvSpPr>
        <p:spPr>
          <a:xfrm>
            <a:off x="11109960" y="2999232"/>
            <a:ext cx="512064" cy="512064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2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2855" y="3122127"/>
            <a:ext cx="266273" cy="266273"/>
          </a:xfrm>
          <a:prstGeom prst="rect">
            <a:avLst/>
          </a:prstGeom>
        </p:spPr>
      </p:pic>
      <p:sp>
        <p:nvSpPr>
          <p:cNvPr id="5023" name="Text 14"/>
          <p:cNvSpPr txBox="1"/>
          <p:nvPr/>
        </p:nvSpPr>
        <p:spPr>
          <a:xfrm>
            <a:off x="11713464" y="2999232"/>
            <a:ext cx="25968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outcome</a:t>
            </a:r>
            <a:endParaRPr lang="en-US" sz="1450" dirty="0"/>
          </a:p>
        </p:txBody>
      </p:sp>
      <p:sp>
        <p:nvSpPr>
          <p:cNvPr id="5024" name="Text 15"/>
          <p:cNvSpPr txBox="1"/>
          <p:nvPr/>
        </p:nvSpPr>
        <p:spPr>
          <a:xfrm>
            <a:off x="1110996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RTO ~26%; fashion returns 25–40%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Wardrobing, swaps, false claims</a:t>
            </a:r>
            <a:endParaRPr lang="en-US" sz="1150" dirty="0"/>
          </a:p>
        </p:txBody>
      </p:sp>
      <p:pic>
        <p:nvPicPr>
          <p:cNvPr id="50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42364" y="3127248"/>
            <a:ext cx="256032" cy="256032"/>
          </a:xfrm>
          <a:prstGeom prst="rect">
            <a:avLst/>
          </a:prstGeom>
        </p:spPr>
      </p:pic>
      <p:sp>
        <p:nvSpPr>
          <p:cNvPr id="5026" name="Shape 16"/>
          <p:cNvSpPr/>
          <p:nvPr/>
        </p:nvSpPr>
        <p:spPr>
          <a:xfrm>
            <a:off x="14630400" y="2999232"/>
            <a:ext cx="512064" cy="512064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53295" y="3122127"/>
            <a:ext cx="266273" cy="266273"/>
          </a:xfrm>
          <a:prstGeom prst="rect">
            <a:avLst/>
          </a:prstGeom>
        </p:spPr>
      </p:pic>
      <p:sp>
        <p:nvSpPr>
          <p:cNvPr id="5028" name="Text 17"/>
          <p:cNvSpPr txBox="1"/>
          <p:nvPr/>
        </p:nvSpPr>
        <p:spPr>
          <a:xfrm>
            <a:off x="15233904" y="2999232"/>
            <a:ext cx="2596896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settlement</a:t>
            </a:r>
            <a:endParaRPr lang="en-US" sz="1450" dirty="0"/>
          </a:p>
        </p:txBody>
      </p:sp>
      <p:sp>
        <p:nvSpPr>
          <p:cNvPr id="5029" name="Text 18"/>
          <p:cNvSpPr txBox="1"/>
          <p:nvPr/>
        </p:nvSpPr>
        <p:spPr>
          <a:xfrm>
            <a:off x="1463040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+ 18% GST on fees + TCS/TDS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"Meesho transfers less than I listed"</a:t>
            </a:r>
            <a:endParaRPr lang="en-US" sz="1150" dirty="0"/>
          </a:p>
        </p:txBody>
      </p:sp>
      <p:sp>
        <p:nvSpPr>
          <p:cNvPr id="5030" name="Shape 19"/>
          <p:cNvSpPr/>
          <p:nvPr/>
        </p:nvSpPr>
        <p:spPr>
          <a:xfrm>
            <a:off x="365760" y="4480560"/>
            <a:ext cx="1147572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1" name="Shape 20"/>
          <p:cNvSpPr/>
          <p:nvPr/>
        </p:nvSpPr>
        <p:spPr>
          <a:xfrm>
            <a:off x="475488" y="4553712"/>
            <a:ext cx="11256264" cy="457200"/>
          </a:xfrm>
          <a:prstGeom prst="roundRect">
            <a:avLst>
              <a:gd name="adj" fmla="val 16000"/>
            </a:avLst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2" name="Text 21"/>
          <p:cNvSpPr txBox="1"/>
          <p:nvPr/>
        </p:nvSpPr>
        <p:spPr>
          <a:xfrm>
            <a:off x="475488" y="4553712"/>
            <a:ext cx="1125626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Pricing Logic:   Floor  →  Ceiling  →  Position</a:t>
            </a:r>
            <a:endParaRPr lang="en-US" sz="1600" dirty="0"/>
          </a:p>
        </p:txBody>
      </p:sp>
      <p:sp>
        <p:nvSpPr>
          <p:cNvPr id="5033" name="Shape 22"/>
          <p:cNvSpPr/>
          <p:nvPr/>
        </p:nvSpPr>
        <p:spPr>
          <a:xfrm>
            <a:off x="502920" y="5102352"/>
            <a:ext cx="367588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4" name="Shape 23"/>
          <p:cNvSpPr/>
          <p:nvPr/>
        </p:nvSpPr>
        <p:spPr>
          <a:xfrm>
            <a:off x="502920" y="5102352"/>
            <a:ext cx="3675888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5" name="Text 24"/>
          <p:cNvSpPr txBox="1"/>
          <p:nvPr/>
        </p:nvSpPr>
        <p:spPr>
          <a:xfrm>
            <a:off x="594360" y="5102352"/>
            <a:ext cx="349300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FLOOR</a:t>
            </a:r>
            <a:endParaRPr lang="en-US" sz="1500" dirty="0"/>
          </a:p>
        </p:txBody>
      </p:sp>
      <p:sp>
        <p:nvSpPr>
          <p:cNvPr id="5036" name="Text 25"/>
          <p:cNvSpPr txBox="1"/>
          <p:nvPr/>
        </p:nvSpPr>
        <p:spPr>
          <a:xfrm>
            <a:off x="594360" y="5522976"/>
            <a:ext cx="34930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every order cover?</a:t>
            </a:r>
            <a:endParaRPr lang="en-US" sz="1250" dirty="0"/>
          </a:p>
        </p:txBody>
      </p:sp>
      <p:sp>
        <p:nvSpPr>
          <p:cNvPr id="5037" name="Text 26"/>
          <p:cNvSpPr txBox="1"/>
          <p:nvPr/>
        </p:nvSpPr>
        <p:spPr>
          <a:xfrm>
            <a:off x="594360" y="5833872"/>
            <a:ext cx="3493008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P₀ = C + S + (f·F + A) ÷ (1 − f)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price = P₀ + target profit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C=landed cost (product, packing, </a:t>
            </a:r>
            <a:r>
              <a:rPr lang="en-US" sz="11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</a:t>
            </a: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S=shipping + fees + GST, f=share of orders returned or RTO,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F=cost per failed order, A=ads per order</a:t>
            </a:r>
            <a:endParaRPr lang="en-US" sz="1300" dirty="0"/>
          </a:p>
        </p:txBody>
      </p:sp>
      <p:sp>
        <p:nvSpPr>
          <p:cNvPr id="5038" name="Shape 27"/>
          <p:cNvSpPr/>
          <p:nvPr/>
        </p:nvSpPr>
        <p:spPr>
          <a:xfrm>
            <a:off x="4288536" y="5102352"/>
            <a:ext cx="367588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9" name="Shape 28"/>
          <p:cNvSpPr/>
          <p:nvPr/>
        </p:nvSpPr>
        <p:spPr>
          <a:xfrm>
            <a:off x="4288536" y="5102352"/>
            <a:ext cx="3675888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0" name="Text 29"/>
          <p:cNvSpPr txBox="1"/>
          <p:nvPr/>
        </p:nvSpPr>
        <p:spPr>
          <a:xfrm>
            <a:off x="4379976" y="5102352"/>
            <a:ext cx="349300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CEILING</a:t>
            </a:r>
            <a:endParaRPr lang="en-US" sz="1500" dirty="0"/>
          </a:p>
        </p:txBody>
      </p:sp>
      <p:sp>
        <p:nvSpPr>
          <p:cNvPr id="5041" name="Text 30"/>
          <p:cNvSpPr txBox="1"/>
          <p:nvPr/>
        </p:nvSpPr>
        <p:spPr>
          <a:xfrm>
            <a:off x="4379976" y="5522976"/>
            <a:ext cx="34930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buyers pay?</a:t>
            </a:r>
            <a:endParaRPr lang="en-US" sz="1250" dirty="0"/>
          </a:p>
        </p:txBody>
      </p:sp>
      <p:sp>
        <p:nvSpPr>
          <p:cNvPr id="5042" name="Text 31"/>
          <p:cNvSpPr txBox="1"/>
          <p:nvPr/>
        </p:nvSpPr>
        <p:spPr>
          <a:xfrm>
            <a:off x="4379976" y="5833872"/>
            <a:ext cx="3493008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of comparable listings: lower to upper quartile, not just the cheapest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Meesho Price Recommendation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price: sanity check only</a:t>
            </a:r>
            <a:endParaRPr lang="en-US" sz="1300" dirty="0"/>
          </a:p>
        </p:txBody>
      </p:sp>
      <p:sp>
        <p:nvSpPr>
          <p:cNvPr id="5043" name="Shape 32"/>
          <p:cNvSpPr/>
          <p:nvPr/>
        </p:nvSpPr>
        <p:spPr>
          <a:xfrm>
            <a:off x="8074152" y="5102352"/>
            <a:ext cx="367588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4" name="Shape 33"/>
          <p:cNvSpPr/>
          <p:nvPr/>
        </p:nvSpPr>
        <p:spPr>
          <a:xfrm>
            <a:off x="8074152" y="5102352"/>
            <a:ext cx="3675888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5" name="Text 34"/>
          <p:cNvSpPr txBox="1"/>
          <p:nvPr/>
        </p:nvSpPr>
        <p:spPr>
          <a:xfrm>
            <a:off x="8165592" y="5102352"/>
            <a:ext cx="349300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POSITION</a:t>
            </a:r>
            <a:endParaRPr lang="en-US" sz="1500" dirty="0"/>
          </a:p>
        </p:txBody>
      </p:sp>
      <p:sp>
        <p:nvSpPr>
          <p:cNvPr id="5046" name="Text 35"/>
          <p:cNvSpPr txBox="1"/>
          <p:nvPr/>
        </p:nvSpPr>
        <p:spPr>
          <a:xfrm>
            <a:off x="8165592" y="5522976"/>
            <a:ext cx="34930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 the band?</a:t>
            </a:r>
            <a:endParaRPr lang="en-US" sz="1250" dirty="0"/>
          </a:p>
        </p:txBody>
      </p:sp>
      <p:sp>
        <p:nvSpPr>
          <p:cNvPr id="5047" name="Text 36"/>
          <p:cNvSpPr txBox="1"/>
          <p:nvPr/>
        </p:nvSpPr>
        <p:spPr>
          <a:xfrm>
            <a:off x="8165592" y="5833872"/>
            <a:ext cx="3493008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below band: </a:t>
            </a: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low-to-mid, step up later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inside band: </a:t>
            </a: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at floor+, win on photos, ratings, fewer returns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above band: </a:t>
            </a: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a lever or don't list</a:t>
            </a:r>
            <a:endParaRPr lang="en-US" sz="1300" dirty="0"/>
          </a:p>
        </p:txBody>
      </p:sp>
      <p:sp>
        <p:nvSpPr>
          <p:cNvPr id="5048" name="Shape 37"/>
          <p:cNvSpPr/>
          <p:nvPr/>
        </p:nvSpPr>
        <p:spPr>
          <a:xfrm>
            <a:off x="502920" y="7296912"/>
            <a:ext cx="5550408" cy="713232"/>
          </a:xfrm>
          <a:prstGeom prst="rect">
            <a:avLst/>
          </a:prstGeom>
          <a:solidFill>
            <a:srgbClr val="E7F4EC"/>
          </a:solidFill>
          <a:ln w="12700">
            <a:solidFill>
              <a:srgbClr val="BFE0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9" name="Text 38"/>
          <p:cNvSpPr txBox="1"/>
          <p:nvPr/>
        </p:nvSpPr>
        <p:spPr>
          <a:xfrm>
            <a:off x="566928" y="7296912"/>
            <a:ext cx="544068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Move up the band: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&amp; reviews · better photos · genuine differentiation (handmade, material) · prepaid-heavy demand · fast dispatch</a:t>
            </a:r>
            <a:endParaRPr lang="en-US" sz="1150" dirty="0"/>
          </a:p>
        </p:txBody>
      </p:sp>
      <p:sp>
        <p:nvSpPr>
          <p:cNvPr id="5050" name="Shape 39"/>
          <p:cNvSpPr/>
          <p:nvPr/>
        </p:nvSpPr>
        <p:spPr>
          <a:xfrm>
            <a:off x="6181344" y="7296912"/>
            <a:ext cx="5550408" cy="713232"/>
          </a:xfrm>
          <a:prstGeom prst="rect">
            <a:avLst/>
          </a:prstGeom>
          <a:solidFill>
            <a:srgbClr val="FBE3DF"/>
          </a:solidFill>
          <a:ln w="12700">
            <a:solidFill>
              <a:srgbClr val="F0C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1" name="Text 40"/>
          <p:cNvSpPr txBox="1"/>
          <p:nvPr/>
        </p:nvSpPr>
        <p:spPr>
          <a:xfrm>
            <a:off x="6245352" y="7296912"/>
            <a:ext cx="544068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Stay low in the band: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ratings yet · high COD share · high-return category · many near-identical listings</a:t>
            </a:r>
            <a:endParaRPr lang="en-US" sz="1150" dirty="0"/>
          </a:p>
        </p:txBody>
      </p:sp>
      <p:sp>
        <p:nvSpPr>
          <p:cNvPr id="5052" name="Text 41"/>
          <p:cNvSpPr txBox="1"/>
          <p:nvPr/>
        </p:nvSpPr>
        <p:spPr>
          <a:xfrm>
            <a:off x="502920" y="8101584"/>
            <a:ext cx="10972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the very first price (no sales history)</a:t>
            </a:r>
            <a:endParaRPr lang="en-US" sz="1350" dirty="0"/>
          </a:p>
        </p:txBody>
      </p:sp>
      <p:sp>
        <p:nvSpPr>
          <p:cNvPr id="5053" name="Shape 42"/>
          <p:cNvSpPr/>
          <p:nvPr/>
        </p:nvSpPr>
        <p:spPr>
          <a:xfrm>
            <a:off x="502920" y="8467344"/>
            <a:ext cx="2852928" cy="877824"/>
          </a:xfrm>
          <a:prstGeom prst="homePlate">
            <a:avLst/>
          </a:prstGeom>
          <a:solidFill>
            <a:srgbClr val="5B13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4" name="Text 43"/>
          <p:cNvSpPr txBox="1"/>
          <p:nvPr/>
        </p:nvSpPr>
        <p:spPr>
          <a:xfrm>
            <a:off x="612648" y="8467344"/>
            <a:ext cx="230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category priors for returns, RTO, shipping &amp; price band</a:t>
            </a:r>
            <a:endParaRPr lang="en-US" sz="1120" dirty="0"/>
          </a:p>
        </p:txBody>
      </p:sp>
      <p:sp>
        <p:nvSpPr>
          <p:cNvPr id="5055" name="Shape 44"/>
          <p:cNvSpPr/>
          <p:nvPr/>
        </p:nvSpPr>
        <p:spPr>
          <a:xfrm>
            <a:off x="3282696" y="8467344"/>
            <a:ext cx="2852928" cy="877824"/>
          </a:xfrm>
          <a:prstGeom prst="chevron">
            <a:avLst/>
          </a:prstGeom>
          <a:solidFill>
            <a:srgbClr val="3E0C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6" name="Text 45"/>
          <p:cNvSpPr txBox="1"/>
          <p:nvPr/>
        </p:nvSpPr>
        <p:spPr>
          <a:xfrm>
            <a:off x="3794760" y="8412480"/>
            <a:ext cx="19842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weight &amp; dimensions before listing</a:t>
            </a:r>
            <a:endParaRPr lang="en-US" sz="1120" dirty="0"/>
          </a:p>
        </p:txBody>
      </p:sp>
      <p:sp>
        <p:nvSpPr>
          <p:cNvPr id="5057" name="Shape 46"/>
          <p:cNvSpPr/>
          <p:nvPr/>
        </p:nvSpPr>
        <p:spPr>
          <a:xfrm>
            <a:off x="6062472" y="8467344"/>
            <a:ext cx="2852928" cy="877824"/>
          </a:xfrm>
          <a:prstGeom prst="chevron">
            <a:avLst/>
          </a:prstGeom>
          <a:solidFill>
            <a:srgbClr val="5B13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8" name="Text 47"/>
          <p:cNvSpPr txBox="1"/>
          <p:nvPr/>
        </p:nvSpPr>
        <p:spPr>
          <a:xfrm>
            <a:off x="6565392" y="8430768"/>
            <a:ext cx="19842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test: ~14 days or ~1,000 views</a:t>
            </a:r>
            <a:endParaRPr lang="en-US" sz="1120" dirty="0"/>
          </a:p>
        </p:txBody>
      </p:sp>
      <p:sp>
        <p:nvSpPr>
          <p:cNvPr id="5059" name="Shape 48"/>
          <p:cNvSpPr/>
          <p:nvPr/>
        </p:nvSpPr>
        <p:spPr>
          <a:xfrm>
            <a:off x="8842248" y="8467344"/>
            <a:ext cx="2852928" cy="877824"/>
          </a:xfrm>
          <a:prstGeom prst="chevron">
            <a:avLst/>
          </a:prstGeom>
          <a:solidFill>
            <a:srgbClr val="3E0C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0" name="Text 49"/>
          <p:cNvSpPr txBox="1"/>
          <p:nvPr/>
        </p:nvSpPr>
        <p:spPr>
          <a:xfrm>
            <a:off x="9345168" y="8439912"/>
            <a:ext cx="19842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priors for own data after ~30–50 orders</a:t>
            </a:r>
            <a:endParaRPr lang="en-US" sz="1120" dirty="0"/>
          </a:p>
        </p:txBody>
      </p:sp>
      <p:sp>
        <p:nvSpPr>
          <p:cNvPr id="5061" name="Shape 50"/>
          <p:cNvSpPr/>
          <p:nvPr/>
        </p:nvSpPr>
        <p:spPr>
          <a:xfrm>
            <a:off x="11978640" y="4480560"/>
            <a:ext cx="594360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2" name="Shape 51"/>
          <p:cNvSpPr/>
          <p:nvPr/>
        </p:nvSpPr>
        <p:spPr>
          <a:xfrm>
            <a:off x="12088368" y="4553712"/>
            <a:ext cx="5724144" cy="457200"/>
          </a:xfrm>
          <a:prstGeom prst="roundRect">
            <a:avLst>
              <a:gd name="adj" fmla="val 16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3" name="Text 52"/>
          <p:cNvSpPr txBox="1"/>
          <p:nvPr/>
        </p:nvSpPr>
        <p:spPr>
          <a:xfrm>
            <a:off x="12088368" y="4553712"/>
            <a:ext cx="572414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Kurti Set (illustrative)</a:t>
            </a:r>
            <a:endParaRPr lang="en-US" sz="1500" dirty="0"/>
          </a:p>
        </p:txBody>
      </p:sp>
      <p:sp>
        <p:nvSpPr>
          <p:cNvPr id="5064" name="Shape 53"/>
          <p:cNvSpPr/>
          <p:nvPr/>
        </p:nvSpPr>
        <p:spPr>
          <a:xfrm>
            <a:off x="12088368" y="5102352"/>
            <a:ext cx="1847088" cy="384048"/>
          </a:xfrm>
          <a:prstGeom prst="rect">
            <a:avLst/>
          </a:prstGeom>
          <a:solidFill>
            <a:srgbClr val="F8EDF5"/>
          </a:solidFill>
          <a:ln w="12700">
            <a:solidFill>
              <a:srgbClr val="F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5" name="Text 54"/>
          <p:cNvSpPr txBox="1"/>
          <p:nvPr/>
        </p:nvSpPr>
        <p:spPr>
          <a:xfrm>
            <a:off x="12115800" y="51023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cost </a:t>
            </a: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₹190</a:t>
            </a:r>
            <a:endParaRPr lang="en-US" sz="1150" dirty="0"/>
          </a:p>
        </p:txBody>
      </p:sp>
      <p:sp>
        <p:nvSpPr>
          <p:cNvPr id="5066" name="Shape 55"/>
          <p:cNvSpPr/>
          <p:nvPr/>
        </p:nvSpPr>
        <p:spPr>
          <a:xfrm>
            <a:off x="14008608" y="5102352"/>
            <a:ext cx="1847088" cy="384048"/>
          </a:xfrm>
          <a:prstGeom prst="rect">
            <a:avLst/>
          </a:prstGeom>
          <a:solidFill>
            <a:srgbClr val="F8EDF5"/>
          </a:solidFill>
          <a:ln w="12700">
            <a:solidFill>
              <a:srgbClr val="F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7" name="Text 56"/>
          <p:cNvSpPr txBox="1"/>
          <p:nvPr/>
        </p:nvSpPr>
        <p:spPr>
          <a:xfrm>
            <a:off x="14036040" y="51023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+ fees + GST </a:t>
            </a: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₹77</a:t>
            </a:r>
            <a:endParaRPr lang="en-US" sz="1150" dirty="0"/>
          </a:p>
        </p:txBody>
      </p:sp>
      <p:sp>
        <p:nvSpPr>
          <p:cNvPr id="5068" name="Shape 57"/>
          <p:cNvSpPr/>
          <p:nvPr/>
        </p:nvSpPr>
        <p:spPr>
          <a:xfrm>
            <a:off x="15928848" y="5102352"/>
            <a:ext cx="1847088" cy="384048"/>
          </a:xfrm>
          <a:prstGeom prst="rect">
            <a:avLst/>
          </a:prstGeom>
          <a:solidFill>
            <a:srgbClr val="F8EDF5"/>
          </a:solidFill>
          <a:ln w="12700">
            <a:solidFill>
              <a:srgbClr val="F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9" name="Text 58"/>
          <p:cNvSpPr txBox="1"/>
          <p:nvPr/>
        </p:nvSpPr>
        <p:spPr>
          <a:xfrm>
            <a:off x="15956280" y="51023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+ RTO </a:t>
            </a: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50" dirty="0"/>
          </a:p>
        </p:txBody>
      </p:sp>
      <p:sp>
        <p:nvSpPr>
          <p:cNvPr id="5070" name="Shape 59"/>
          <p:cNvSpPr/>
          <p:nvPr/>
        </p:nvSpPr>
        <p:spPr>
          <a:xfrm>
            <a:off x="12088368" y="5559552"/>
            <a:ext cx="1847088" cy="384048"/>
          </a:xfrm>
          <a:prstGeom prst="rect">
            <a:avLst/>
          </a:prstGeom>
          <a:solidFill>
            <a:srgbClr val="F8EDF5"/>
          </a:solidFill>
          <a:ln w="12700">
            <a:solidFill>
              <a:srgbClr val="F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1" name="Text 60"/>
          <p:cNvSpPr txBox="1"/>
          <p:nvPr/>
        </p:nvSpPr>
        <p:spPr>
          <a:xfrm>
            <a:off x="12115800" y="55595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failure </a:t>
            </a: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₹150</a:t>
            </a:r>
            <a:endParaRPr lang="en-US" sz="1150" dirty="0"/>
          </a:p>
        </p:txBody>
      </p:sp>
      <p:sp>
        <p:nvSpPr>
          <p:cNvPr id="5072" name="Shape 61"/>
          <p:cNvSpPr/>
          <p:nvPr/>
        </p:nvSpPr>
        <p:spPr>
          <a:xfrm>
            <a:off x="14008608" y="5559552"/>
            <a:ext cx="1847088" cy="384048"/>
          </a:xfrm>
          <a:prstGeom prst="rect">
            <a:avLst/>
          </a:prstGeom>
          <a:solidFill>
            <a:srgbClr val="F8EDF5"/>
          </a:solidFill>
          <a:ln w="12700">
            <a:solidFill>
              <a:srgbClr val="F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3" name="Text 62"/>
          <p:cNvSpPr txBox="1"/>
          <p:nvPr/>
        </p:nvSpPr>
        <p:spPr>
          <a:xfrm>
            <a:off x="14036040" y="55595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per order </a:t>
            </a: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</a:t>
            </a:r>
            <a:endParaRPr lang="en-US" sz="1150" dirty="0"/>
          </a:p>
        </p:txBody>
      </p:sp>
      <p:sp>
        <p:nvSpPr>
          <p:cNvPr id="5074" name="Shape 63"/>
          <p:cNvSpPr/>
          <p:nvPr/>
        </p:nvSpPr>
        <p:spPr>
          <a:xfrm>
            <a:off x="15928848" y="5559552"/>
            <a:ext cx="1847088" cy="384048"/>
          </a:xfrm>
          <a:prstGeom prst="rect">
            <a:avLst/>
          </a:prstGeom>
          <a:solidFill>
            <a:srgbClr val="F8EDF5"/>
          </a:solidFill>
          <a:ln w="12700">
            <a:solidFill>
              <a:srgbClr val="F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5" name="Text 64"/>
          <p:cNvSpPr txBox="1"/>
          <p:nvPr/>
        </p:nvSpPr>
        <p:spPr>
          <a:xfrm>
            <a:off x="15956280" y="55595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</a:t>
            </a: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₹289–319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088368" y="6053328"/>
          <a:ext cx="5724144" cy="1353312"/>
        </p:xfrm>
        <a:graphic>
          <a:graphicData uri="http://schemas.openxmlformats.org/drawingml/2006/table">
            <a:tbl>
              <a:tblPr/>
              <a:tblGrid>
                <a:gridCol w="2980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P₀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3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 at ₹299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3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case (f = 30%)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₹343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−₹31 per order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Defective-only returns (f → 15%)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−₹3 per order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…plus ₹15 lower landed cost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₹288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+₹9 per order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77" name="Text 65"/>
          <p:cNvSpPr txBox="1"/>
          <p:nvPr/>
        </p:nvSpPr>
        <p:spPr>
          <a:xfrm>
            <a:off x="12088368" y="7461504"/>
            <a:ext cx="5724144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per dispatched order at market price ₹299</a:t>
            </a:r>
            <a:endParaRPr lang="en-US" sz="1150" dirty="0"/>
          </a:p>
        </p:txBody>
      </p:sp>
      <p:sp>
        <p:nvSpPr>
          <p:cNvPr id="5078" name="Shape 66"/>
          <p:cNvSpPr/>
          <p:nvPr/>
        </p:nvSpPr>
        <p:spPr>
          <a:xfrm>
            <a:off x="15544800" y="7772400"/>
            <a:ext cx="0" cy="841248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9" name="Shape 67"/>
          <p:cNvSpPr/>
          <p:nvPr/>
        </p:nvSpPr>
        <p:spPr>
          <a:xfrm>
            <a:off x="12527280" y="7818120"/>
            <a:ext cx="301752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0" name="Text 68"/>
          <p:cNvSpPr txBox="1"/>
          <p:nvPr/>
        </p:nvSpPr>
        <p:spPr>
          <a:xfrm>
            <a:off x="12527280" y="7818120"/>
            <a:ext cx="3017520" cy="210312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−₹31</a:t>
            </a:r>
            <a:endParaRPr lang="en-US" sz="1000" dirty="0"/>
          </a:p>
        </p:txBody>
      </p:sp>
      <p:sp>
        <p:nvSpPr>
          <p:cNvPr id="5081" name="Text 69"/>
          <p:cNvSpPr txBox="1"/>
          <p:nvPr/>
        </p:nvSpPr>
        <p:spPr>
          <a:xfrm>
            <a:off x="15617952" y="781812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950" dirty="0"/>
          </a:p>
        </p:txBody>
      </p:sp>
      <p:sp>
        <p:nvSpPr>
          <p:cNvPr id="5082" name="Shape 70"/>
          <p:cNvSpPr/>
          <p:nvPr/>
        </p:nvSpPr>
        <p:spPr>
          <a:xfrm>
            <a:off x="15252782" y="8083296"/>
            <a:ext cx="292018" cy="210312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3" name="Text 71"/>
          <p:cNvSpPr txBox="1"/>
          <p:nvPr/>
        </p:nvSpPr>
        <p:spPr>
          <a:xfrm>
            <a:off x="14704142" y="8083296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−₹3</a:t>
            </a:r>
            <a:endParaRPr lang="en-US" sz="1000" dirty="0"/>
          </a:p>
        </p:txBody>
      </p:sp>
      <p:sp>
        <p:nvSpPr>
          <p:cNvPr id="5084" name="Text 72"/>
          <p:cNvSpPr txBox="1"/>
          <p:nvPr/>
        </p:nvSpPr>
        <p:spPr>
          <a:xfrm>
            <a:off x="15617952" y="8083296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Defective-only returns</a:t>
            </a:r>
            <a:endParaRPr lang="en-US" sz="950" dirty="0"/>
          </a:p>
        </p:txBody>
      </p:sp>
      <p:sp>
        <p:nvSpPr>
          <p:cNvPr id="5085" name="Shape 73"/>
          <p:cNvSpPr/>
          <p:nvPr/>
        </p:nvSpPr>
        <p:spPr>
          <a:xfrm>
            <a:off x="15544800" y="8348472"/>
            <a:ext cx="876054" cy="21031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6" name="Text 74"/>
          <p:cNvSpPr txBox="1"/>
          <p:nvPr/>
        </p:nvSpPr>
        <p:spPr>
          <a:xfrm>
            <a:off x="16475718" y="834847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+₹9 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lower cost</a:t>
            </a:r>
            <a:endParaRPr lang="en-US" sz="1000" dirty="0"/>
          </a:p>
        </p:txBody>
      </p:sp>
      <p:sp>
        <p:nvSpPr>
          <p:cNvPr id="5087" name="Shape 75"/>
          <p:cNvSpPr/>
          <p:nvPr/>
        </p:nvSpPr>
        <p:spPr>
          <a:xfrm>
            <a:off x="12088368" y="8686800"/>
            <a:ext cx="5724144" cy="713232"/>
          </a:xfrm>
          <a:prstGeom prst="rect">
            <a:avLst/>
          </a:prstGeom>
          <a:solidFill>
            <a:srgbClr val="FFF7EA"/>
          </a:solidFill>
          <a:ln w="1587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8" name="Text 76"/>
          <p:cNvSpPr txBox="1"/>
          <p:nvPr/>
        </p:nvSpPr>
        <p:spPr>
          <a:xfrm>
            <a:off x="12161520" y="8686800"/>
            <a:ext cx="557784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Copying the market looks safe but loses ₹31 on every dispatched order. </a:t>
            </a: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choice is which lever makes the SKU viable, or not listing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27" name="Google Shape;127;p5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/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9" name="Google Shape;129;p5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Google Shape;131;p5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/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02" name="Text 0"/>
          <p:cNvSpPr txBox="1"/>
          <p:nvPr/>
        </p:nvSpPr>
        <p:spPr>
          <a:xfrm>
            <a:off x="4572000" y="45720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Pricing &amp; How Meesho Helps</a:t>
            </a:r>
            <a:endParaRPr lang="en-US" sz="3000" dirty="0"/>
          </a:p>
        </p:txBody>
      </p:sp>
      <p:sp>
        <p:nvSpPr>
          <p:cNvPr id="5003" name="Text 1"/>
          <p:cNvSpPr txBox="1"/>
          <p:nvPr/>
        </p:nvSpPr>
        <p:spPr>
          <a:xfrm>
            <a:off x="4572000" y="15544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and triggers that change the price, and Sahi Daam, Meesho's pricing co-pilot</a:t>
            </a:r>
            <a:endParaRPr lang="en-US" sz="1400" dirty="0"/>
          </a:p>
        </p:txBody>
      </p:sp>
      <p:sp>
        <p:nvSpPr>
          <p:cNvPr id="5004" name="Shape 2"/>
          <p:cNvSpPr/>
          <p:nvPr/>
        </p:nvSpPr>
        <p:spPr>
          <a:xfrm>
            <a:off x="365760" y="2560320"/>
            <a:ext cx="17556480" cy="2971800"/>
          </a:xfrm>
          <a:prstGeom prst="roundRect">
            <a:avLst>
              <a:gd name="adj" fmla="val 3077"/>
            </a:avLst>
          </a:prstGeom>
          <a:solidFill>
            <a:srgbClr val="FFF7EA"/>
          </a:solidFill>
          <a:ln w="15875">
            <a:solidFill>
              <a:srgbClr val="F2D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5" name="Text 3"/>
          <p:cNvSpPr txBox="1"/>
          <p:nvPr/>
        </p:nvSpPr>
        <p:spPr>
          <a:xfrm>
            <a:off x="548640" y="2596896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Playbook: </a:t>
            </a:r>
            <a:r>
              <a:rPr lang="en-US" sz="1450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to watch and triggers that change the price</a:t>
            </a:r>
            <a:endParaRPr lang="en-US" sz="1450" dirty="0"/>
          </a:p>
        </p:txBody>
      </p:sp>
      <p:sp>
        <p:nvSpPr>
          <p:cNvPr id="5006" name="Shape 4"/>
          <p:cNvSpPr/>
          <p:nvPr/>
        </p:nvSpPr>
        <p:spPr>
          <a:xfrm>
            <a:off x="502920" y="3017520"/>
            <a:ext cx="3429000" cy="512064"/>
          </a:xfrm>
          <a:prstGeom prst="homePlate">
            <a:avLst/>
          </a:prstGeom>
          <a:solidFill>
            <a:srgbClr val="5B13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7" name="Text 5"/>
          <p:cNvSpPr txBox="1"/>
          <p:nvPr/>
        </p:nvSpPr>
        <p:spPr>
          <a:xfrm>
            <a:off x="640080" y="30175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(0–30 days)</a:t>
            </a:r>
            <a:endParaRPr lang="en-US" sz="1500" dirty="0"/>
          </a:p>
        </p:txBody>
      </p:sp>
      <p:sp>
        <p:nvSpPr>
          <p:cNvPr id="5008" name="Shape 6"/>
          <p:cNvSpPr/>
          <p:nvPr/>
        </p:nvSpPr>
        <p:spPr>
          <a:xfrm>
            <a:off x="548640" y="3593592"/>
            <a:ext cx="320040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9" name="Text 7"/>
          <p:cNvSpPr txBox="1"/>
          <p:nvPr/>
        </p:nvSpPr>
        <p:spPr>
          <a:xfrm>
            <a:off x="612648" y="3630168"/>
            <a:ext cx="30723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200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discovered, stay profitable</a:t>
            </a:r>
            <a:endParaRPr lang="en-US" sz="1200" dirty="0"/>
          </a:p>
        </p:txBody>
      </p:sp>
      <p:sp>
        <p:nvSpPr>
          <p:cNvPr id="5010" name="Text 8"/>
          <p:cNvSpPr txBox="1"/>
          <p:nvPr/>
        </p:nvSpPr>
        <p:spPr>
          <a:xfrm>
            <a:off x="612648" y="3922776"/>
            <a:ext cx="30723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Views, CTR, orders per 1,000 views, first returns</a:t>
            </a:r>
            <a:endParaRPr lang="en-US" sz="1150" dirty="0"/>
          </a:p>
        </p:txBody>
      </p:sp>
      <p:sp>
        <p:nvSpPr>
          <p:cNvPr id="5011" name="Text 9"/>
          <p:cNvSpPr txBox="1"/>
          <p:nvPr/>
        </p:nvSpPr>
        <p:spPr>
          <a:xfrm>
            <a:off x="612648" y="4389120"/>
            <a:ext cx="3072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Action</a:t>
            </a:r>
            <a:endParaRPr lang="en-US" sz="1200" dirty="0"/>
          </a:p>
        </p:txBody>
      </p:sp>
      <p:sp>
        <p:nvSpPr>
          <p:cNvPr id="5012" name="Text 10"/>
          <p:cNvSpPr txBox="1"/>
          <p:nvPr/>
        </p:nvSpPr>
        <p:spPr>
          <a:xfrm>
            <a:off x="612648" y="4645152"/>
            <a:ext cx="3072384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&lt; category median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~1,000 views → fix photos, then test −5% (stay ≥ floor)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views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visibility problem, not price</a:t>
            </a:r>
            <a:endParaRPr lang="en-US" sz="1200" dirty="0"/>
          </a:p>
        </p:txBody>
      </p:sp>
      <p:sp>
        <p:nvSpPr>
          <p:cNvPr id="5013" name="Shape 11"/>
          <p:cNvSpPr/>
          <p:nvPr/>
        </p:nvSpPr>
        <p:spPr>
          <a:xfrm>
            <a:off x="3886200" y="3017520"/>
            <a:ext cx="3429000" cy="512064"/>
          </a:xfrm>
          <a:prstGeom prst="chevron">
            <a:avLst/>
          </a:prstGeom>
          <a:solidFill>
            <a:srgbClr val="7A2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4" name="Text 12"/>
          <p:cNvSpPr txBox="1"/>
          <p:nvPr/>
        </p:nvSpPr>
        <p:spPr>
          <a:xfrm>
            <a:off x="4251960" y="30175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500" dirty="0"/>
          </a:p>
        </p:txBody>
      </p:sp>
      <p:sp>
        <p:nvSpPr>
          <p:cNvPr id="5015" name="Shape 13"/>
          <p:cNvSpPr/>
          <p:nvPr/>
        </p:nvSpPr>
        <p:spPr>
          <a:xfrm>
            <a:off x="3931920" y="3593592"/>
            <a:ext cx="320040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6" name="Text 14"/>
          <p:cNvSpPr txBox="1"/>
          <p:nvPr/>
        </p:nvSpPr>
        <p:spPr>
          <a:xfrm>
            <a:off x="3995928" y="3630168"/>
            <a:ext cx="30723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200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momentum into margin</a:t>
            </a:r>
            <a:endParaRPr lang="en-US" sz="1200" dirty="0"/>
          </a:p>
        </p:txBody>
      </p:sp>
      <p:sp>
        <p:nvSpPr>
          <p:cNvPr id="5017" name="Text 15"/>
          <p:cNvSpPr txBox="1"/>
          <p:nvPr/>
        </p:nvSpPr>
        <p:spPr>
          <a:xfrm>
            <a:off x="3995928" y="3922776"/>
            <a:ext cx="30723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velocity, rating ≥ 4, returns vs category</a:t>
            </a:r>
            <a:endParaRPr lang="en-US" sz="1150" dirty="0"/>
          </a:p>
        </p:txBody>
      </p:sp>
      <p:sp>
        <p:nvSpPr>
          <p:cNvPr id="5018" name="Text 16"/>
          <p:cNvSpPr txBox="1"/>
          <p:nvPr/>
        </p:nvSpPr>
        <p:spPr>
          <a:xfrm>
            <a:off x="3995928" y="4389120"/>
            <a:ext cx="3072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Action</a:t>
            </a:r>
            <a:endParaRPr lang="en-US" sz="1200" dirty="0"/>
          </a:p>
        </p:txBody>
      </p:sp>
      <p:sp>
        <p:nvSpPr>
          <p:cNvPr id="5019" name="Text 17"/>
          <p:cNvSpPr txBox="1"/>
          <p:nvPr/>
        </p:nvSpPr>
        <p:spPr>
          <a:xfrm>
            <a:off x="3995928" y="4645152"/>
            <a:ext cx="3072384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up, conversion stable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+3–5% step, hold a week, keep if conversion holds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below category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floor falls, bank the margin</a:t>
            </a:r>
            <a:endParaRPr lang="en-US" sz="1200" dirty="0"/>
          </a:p>
        </p:txBody>
      </p:sp>
      <p:sp>
        <p:nvSpPr>
          <p:cNvPr id="5020" name="Shape 18"/>
          <p:cNvSpPr/>
          <p:nvPr/>
        </p:nvSpPr>
        <p:spPr>
          <a:xfrm>
            <a:off x="7269480" y="3017520"/>
            <a:ext cx="3429000" cy="512064"/>
          </a:xfrm>
          <a:prstGeom prst="chevron">
            <a:avLst/>
          </a:prstGeom>
          <a:solidFill>
            <a:srgbClr val="93407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1" name="Text 19"/>
          <p:cNvSpPr txBox="1"/>
          <p:nvPr/>
        </p:nvSpPr>
        <p:spPr>
          <a:xfrm>
            <a:off x="7635240" y="30175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</a:t>
            </a:r>
            <a:endParaRPr lang="en-US" sz="1500" dirty="0"/>
          </a:p>
        </p:txBody>
      </p:sp>
      <p:sp>
        <p:nvSpPr>
          <p:cNvPr id="5022" name="Shape 20"/>
          <p:cNvSpPr/>
          <p:nvPr/>
        </p:nvSpPr>
        <p:spPr>
          <a:xfrm>
            <a:off x="7315200" y="3593592"/>
            <a:ext cx="320040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3" name="Text 21"/>
          <p:cNvSpPr txBox="1"/>
          <p:nvPr/>
        </p:nvSpPr>
        <p:spPr>
          <a:xfrm>
            <a:off x="7379208" y="3630168"/>
            <a:ext cx="30723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200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profit as the market shifts</a:t>
            </a:r>
            <a:endParaRPr lang="en-US" sz="1200" dirty="0"/>
          </a:p>
        </p:txBody>
      </p:sp>
      <p:sp>
        <p:nvSpPr>
          <p:cNvPr id="5024" name="Text 22"/>
          <p:cNvSpPr txBox="1"/>
          <p:nvPr/>
        </p:nvSpPr>
        <p:spPr>
          <a:xfrm>
            <a:off x="7379208" y="3922776"/>
            <a:ext cx="30723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band, settlement per order vs expected, input costs</a:t>
            </a:r>
            <a:endParaRPr lang="en-US" sz="1150" dirty="0"/>
          </a:p>
        </p:txBody>
      </p:sp>
      <p:sp>
        <p:nvSpPr>
          <p:cNvPr id="5025" name="Text 23"/>
          <p:cNvSpPr txBox="1"/>
          <p:nvPr/>
        </p:nvSpPr>
        <p:spPr>
          <a:xfrm>
            <a:off x="7379208" y="4389120"/>
            <a:ext cx="3072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Action</a:t>
            </a:r>
            <a:endParaRPr lang="en-US" sz="1200" dirty="0"/>
          </a:p>
        </p:txBody>
      </p:sp>
      <p:sp>
        <p:nvSpPr>
          <p:cNvPr id="5026" name="Text 24"/>
          <p:cNvSpPr txBox="1"/>
          <p:nvPr/>
        </p:nvSpPr>
        <p:spPr>
          <a:xfrm>
            <a:off x="7379208" y="4645152"/>
            <a:ext cx="3072384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drift &gt; 5%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check weight &amp; deductions before touching price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falls below floor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differentiate, pull a lever or exit</a:t>
            </a:r>
            <a:endParaRPr lang="en-US" sz="1200" dirty="0"/>
          </a:p>
        </p:txBody>
      </p:sp>
      <p:sp>
        <p:nvSpPr>
          <p:cNvPr id="5027" name="Shape 25"/>
          <p:cNvSpPr/>
          <p:nvPr/>
        </p:nvSpPr>
        <p:spPr>
          <a:xfrm>
            <a:off x="10652760" y="3017520"/>
            <a:ext cx="3429000" cy="512064"/>
          </a:xfrm>
          <a:prstGeom prst="chevron">
            <a:avLst/>
          </a:prstGeom>
          <a:solidFill>
            <a:srgbClr val="3E0C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8" name="Text 26"/>
          <p:cNvSpPr txBox="1"/>
          <p:nvPr/>
        </p:nvSpPr>
        <p:spPr>
          <a:xfrm>
            <a:off x="11018520" y="30175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/ Season end</a:t>
            </a:r>
            <a:endParaRPr lang="en-US" sz="1500" dirty="0"/>
          </a:p>
        </p:txBody>
      </p:sp>
      <p:sp>
        <p:nvSpPr>
          <p:cNvPr id="5029" name="Shape 27"/>
          <p:cNvSpPr/>
          <p:nvPr/>
        </p:nvSpPr>
        <p:spPr>
          <a:xfrm>
            <a:off x="10698480" y="3593592"/>
            <a:ext cx="3200400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0" name="Text 28"/>
          <p:cNvSpPr txBox="1"/>
          <p:nvPr/>
        </p:nvSpPr>
        <p:spPr>
          <a:xfrm>
            <a:off x="10762488" y="3630168"/>
            <a:ext cx="307238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200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cash from stock</a:t>
            </a:r>
            <a:endParaRPr lang="en-US" sz="1200" dirty="0"/>
          </a:p>
        </p:txBody>
      </p:sp>
      <p:sp>
        <p:nvSpPr>
          <p:cNvPr id="5031" name="Text 29"/>
          <p:cNvSpPr txBox="1"/>
          <p:nvPr/>
        </p:nvSpPr>
        <p:spPr>
          <a:xfrm>
            <a:off x="10762488" y="3922776"/>
            <a:ext cx="30723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Watch: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stock vs season left, late returns</a:t>
            </a:r>
            <a:endParaRPr lang="en-US" sz="1150" dirty="0"/>
          </a:p>
        </p:txBody>
      </p:sp>
      <p:sp>
        <p:nvSpPr>
          <p:cNvPr id="5032" name="Text 30"/>
          <p:cNvSpPr txBox="1"/>
          <p:nvPr/>
        </p:nvSpPr>
        <p:spPr>
          <a:xfrm>
            <a:off x="10762488" y="4389120"/>
            <a:ext cx="3072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Action</a:t>
            </a:r>
            <a:endParaRPr lang="en-US" sz="1200" dirty="0"/>
          </a:p>
        </p:txBody>
      </p:sp>
      <p:sp>
        <p:nvSpPr>
          <p:cNvPr id="5033" name="Text 31"/>
          <p:cNvSpPr txBox="1"/>
          <p:nvPr/>
        </p:nvSpPr>
        <p:spPr>
          <a:xfrm>
            <a:off x="10762488" y="4645152"/>
            <a:ext cx="3072384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outlasts selling window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markdown ladder to cash floor (C + S)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SKU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bundle with a fast one; stop restocking</a:t>
            </a:r>
            <a:endParaRPr lang="en-US" sz="1200" dirty="0"/>
          </a:p>
        </p:txBody>
      </p:sp>
      <p:sp>
        <p:nvSpPr>
          <p:cNvPr id="5034" name="Shape 32"/>
          <p:cNvSpPr/>
          <p:nvPr/>
        </p:nvSpPr>
        <p:spPr>
          <a:xfrm>
            <a:off x="14127480" y="3017520"/>
            <a:ext cx="3657600" cy="2441448"/>
          </a:xfrm>
          <a:prstGeom prst="rect">
            <a:avLst/>
          </a:prstGeom>
          <a:solidFill>
            <a:srgbClr val="FFFFFF"/>
          </a:solidFill>
          <a:ln w="22225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35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5496" y="3108960"/>
            <a:ext cx="256032" cy="256032"/>
          </a:xfrm>
          <a:prstGeom prst="rect">
            <a:avLst/>
          </a:prstGeom>
        </p:spPr>
      </p:pic>
      <p:sp>
        <p:nvSpPr>
          <p:cNvPr id="5036" name="Text 33"/>
          <p:cNvSpPr txBox="1"/>
          <p:nvPr/>
        </p:nvSpPr>
        <p:spPr>
          <a:xfrm>
            <a:off x="14566392" y="3072384"/>
            <a:ext cx="3154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triggers</a:t>
            </a:r>
            <a:endParaRPr lang="en-US" sz="1400" dirty="0"/>
          </a:p>
        </p:txBody>
      </p:sp>
      <p:sp>
        <p:nvSpPr>
          <p:cNvPr id="5037" name="Text 34"/>
          <p:cNvSpPr txBox="1"/>
          <p:nvPr/>
        </p:nvSpPr>
        <p:spPr>
          <a:xfrm>
            <a:off x="14218920" y="3456432"/>
            <a:ext cx="347472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change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(slab, weight, GST, raw material) → re-compute floor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Returns/RTO jump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update f; review return option, size chart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Festive window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plan price &amp; ads early; pad RTO buffer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band shift </a:t>
            </a: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re-position, never below floor</a:t>
            </a:r>
            <a:endParaRPr lang="en-US" sz="1200" dirty="0"/>
          </a:p>
        </p:txBody>
      </p:sp>
      <p:sp>
        <p:nvSpPr>
          <p:cNvPr id="5038" name="Shape 35"/>
          <p:cNvSpPr/>
          <p:nvPr/>
        </p:nvSpPr>
        <p:spPr>
          <a:xfrm>
            <a:off x="365760" y="5669280"/>
            <a:ext cx="92354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9" name="Shape 36"/>
          <p:cNvSpPr/>
          <p:nvPr/>
        </p:nvSpPr>
        <p:spPr>
          <a:xfrm>
            <a:off x="457200" y="5742432"/>
            <a:ext cx="9052560" cy="438912"/>
          </a:xfrm>
          <a:prstGeom prst="roundRect">
            <a:avLst>
              <a:gd name="adj" fmla="val 16667"/>
            </a:avLst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0" name="Text 37"/>
          <p:cNvSpPr txBox="1"/>
          <p:nvPr/>
        </p:nvSpPr>
        <p:spPr>
          <a:xfrm>
            <a:off x="457200" y="5742432"/>
            <a:ext cx="90525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 Daam ("the right price"): Meesho's Pricing Co-pilot in the Supplier App</a:t>
            </a:r>
            <a:endParaRPr lang="en-US" sz="1450" dirty="0"/>
          </a:p>
        </p:txBody>
      </p:sp>
      <p:sp>
        <p:nvSpPr>
          <p:cNvPr id="5041" name="Shape 38"/>
          <p:cNvSpPr/>
          <p:nvPr/>
        </p:nvSpPr>
        <p:spPr>
          <a:xfrm>
            <a:off x="475488" y="6263640"/>
            <a:ext cx="1737360" cy="2267712"/>
          </a:xfrm>
          <a:prstGeom prst="rect">
            <a:avLst/>
          </a:prstGeom>
          <a:solidFill>
            <a:srgbClr val="FFF7EA"/>
          </a:solidFill>
          <a:ln w="12700">
            <a:solidFill>
              <a:srgbClr val="F2D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2" name="Shape 39"/>
          <p:cNvSpPr/>
          <p:nvPr/>
        </p:nvSpPr>
        <p:spPr>
          <a:xfrm>
            <a:off x="1088136" y="6355080"/>
            <a:ext cx="512064" cy="512064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43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031" y="6477975"/>
            <a:ext cx="266273" cy="266273"/>
          </a:xfrm>
          <a:prstGeom prst="rect">
            <a:avLst/>
          </a:prstGeom>
        </p:spPr>
      </p:pic>
      <p:sp>
        <p:nvSpPr>
          <p:cNvPr id="5044" name="Text 40"/>
          <p:cNvSpPr txBox="1"/>
          <p:nvPr/>
        </p:nvSpPr>
        <p:spPr>
          <a:xfrm>
            <a:off x="512064" y="6912864"/>
            <a:ext cx="166420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Munafa Meter</a:t>
            </a:r>
            <a:endParaRPr lang="en-US" sz="1200" dirty="0"/>
          </a:p>
        </p:txBody>
      </p:sp>
      <p:sp>
        <p:nvSpPr>
          <p:cNvPr id="5045" name="Text 41"/>
          <p:cNvSpPr txBox="1"/>
          <p:nvPr/>
        </p:nvSpPr>
        <p:spPr>
          <a:xfrm>
            <a:off x="530352" y="7278624"/>
            <a:ext cx="1627632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Voice/vernacular cost wizard at listing; auto-fills slab, GST on fees, return &amp; RTO priors; shows price → bank → profit</a:t>
            </a:r>
            <a:endParaRPr lang="en-US" sz="1080" dirty="0"/>
          </a:p>
        </p:txBody>
      </p:sp>
      <p:sp>
        <p:nvSpPr>
          <p:cNvPr id="5046" name="Shape 42"/>
          <p:cNvSpPr/>
          <p:nvPr/>
        </p:nvSpPr>
        <p:spPr>
          <a:xfrm>
            <a:off x="2286000" y="6263640"/>
            <a:ext cx="1737360" cy="2267712"/>
          </a:xfrm>
          <a:prstGeom prst="rect">
            <a:avLst/>
          </a:prstGeom>
          <a:solidFill>
            <a:srgbClr val="F8EDF5"/>
          </a:solidFill>
          <a:ln w="12700">
            <a:solidFill>
              <a:srgbClr val="F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7" name="Shape 43"/>
          <p:cNvSpPr/>
          <p:nvPr/>
        </p:nvSpPr>
        <p:spPr>
          <a:xfrm>
            <a:off x="2898648" y="6355080"/>
            <a:ext cx="512064" cy="512064"/>
          </a:xfrm>
          <a:prstGeom prst="ellipse">
            <a:avLst/>
          </a:prstGeom>
          <a:solidFill>
            <a:srgbClr val="3E0C38"/>
          </a:solidFill>
          <a:ln w="12700">
            <a:solidFill>
              <a:srgbClr val="3E0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48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1543" y="6477975"/>
            <a:ext cx="266273" cy="266273"/>
          </a:xfrm>
          <a:prstGeom prst="rect">
            <a:avLst/>
          </a:prstGeom>
        </p:spPr>
      </p:pic>
      <p:sp>
        <p:nvSpPr>
          <p:cNvPr id="5049" name="Text 44"/>
          <p:cNvSpPr txBox="1"/>
          <p:nvPr/>
        </p:nvSpPr>
        <p:spPr>
          <a:xfrm>
            <a:off x="2322576" y="6912864"/>
            <a:ext cx="166420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Band</a:t>
            </a:r>
            <a:endParaRPr lang="en-US" sz="1200" dirty="0"/>
          </a:p>
        </p:txBody>
      </p:sp>
      <p:sp>
        <p:nvSpPr>
          <p:cNvPr id="5050" name="Text 45"/>
          <p:cNvSpPr txBox="1"/>
          <p:nvPr/>
        </p:nvSpPr>
        <p:spPr>
          <a:xfrm>
            <a:off x="2340864" y="7278624"/>
            <a:ext cx="1627632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/ Profit / Loss zones vs the seller's own floor; smart-pricing minimum defaults to floor; return option shown in ₹</a:t>
            </a:r>
            <a:endParaRPr lang="en-US" sz="1080" dirty="0"/>
          </a:p>
        </p:txBody>
      </p:sp>
      <p:sp>
        <p:nvSpPr>
          <p:cNvPr id="5051" name="Shape 46"/>
          <p:cNvSpPr/>
          <p:nvPr/>
        </p:nvSpPr>
        <p:spPr>
          <a:xfrm>
            <a:off x="4096512" y="6263640"/>
            <a:ext cx="1737360" cy="2267712"/>
          </a:xfrm>
          <a:prstGeom prst="rect">
            <a:avLst/>
          </a:prstGeom>
          <a:solidFill>
            <a:srgbClr val="FFF7EA"/>
          </a:solidFill>
          <a:ln w="12700">
            <a:solidFill>
              <a:srgbClr val="F2D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2" name="Shape 47"/>
          <p:cNvSpPr/>
          <p:nvPr/>
        </p:nvSpPr>
        <p:spPr>
          <a:xfrm>
            <a:off x="4709160" y="6355080"/>
            <a:ext cx="512064" cy="512064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53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2055" y="6477975"/>
            <a:ext cx="266273" cy="266273"/>
          </a:xfrm>
          <a:prstGeom prst="rect">
            <a:avLst/>
          </a:prstGeom>
        </p:spPr>
      </p:pic>
      <p:sp>
        <p:nvSpPr>
          <p:cNvPr id="5054" name="Text 48"/>
          <p:cNvSpPr txBox="1"/>
          <p:nvPr/>
        </p:nvSpPr>
        <p:spPr>
          <a:xfrm>
            <a:off x="4133088" y="6912864"/>
            <a:ext cx="166420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Health Guard</a:t>
            </a:r>
            <a:endParaRPr lang="en-US" sz="1200" dirty="0"/>
          </a:p>
        </p:txBody>
      </p:sp>
      <p:sp>
        <p:nvSpPr>
          <p:cNvPr id="5055" name="Text 49"/>
          <p:cNvSpPr txBox="1"/>
          <p:nvPr/>
        </p:nvSpPr>
        <p:spPr>
          <a:xfrm>
            <a:off x="4151376" y="7278624"/>
            <a:ext cx="1627632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weight that doesn't fit size or contents; alert before slab change; photo-on-scale dispute, no auto-close</a:t>
            </a:r>
            <a:endParaRPr lang="en-US" sz="1080" dirty="0"/>
          </a:p>
        </p:txBody>
      </p:sp>
      <p:sp>
        <p:nvSpPr>
          <p:cNvPr id="5056" name="Shape 50"/>
          <p:cNvSpPr/>
          <p:nvPr/>
        </p:nvSpPr>
        <p:spPr>
          <a:xfrm>
            <a:off x="5907024" y="6263640"/>
            <a:ext cx="1737360" cy="2267712"/>
          </a:xfrm>
          <a:prstGeom prst="rect">
            <a:avLst/>
          </a:prstGeom>
          <a:solidFill>
            <a:srgbClr val="F8EDF5"/>
          </a:solidFill>
          <a:ln w="12700">
            <a:solidFill>
              <a:srgbClr val="F8ED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7" name="Shape 51"/>
          <p:cNvSpPr/>
          <p:nvPr/>
        </p:nvSpPr>
        <p:spPr>
          <a:xfrm>
            <a:off x="6519672" y="6355080"/>
            <a:ext cx="512064" cy="512064"/>
          </a:xfrm>
          <a:prstGeom prst="ellipse">
            <a:avLst/>
          </a:prstGeom>
          <a:solidFill>
            <a:srgbClr val="3E0C38"/>
          </a:solidFill>
          <a:ln w="12700">
            <a:solidFill>
              <a:srgbClr val="3E0C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58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2567" y="6477975"/>
            <a:ext cx="266273" cy="266273"/>
          </a:xfrm>
          <a:prstGeom prst="rect">
            <a:avLst/>
          </a:prstGeom>
        </p:spPr>
      </p:pic>
      <p:sp>
        <p:nvSpPr>
          <p:cNvPr id="5059" name="Text 52"/>
          <p:cNvSpPr txBox="1"/>
          <p:nvPr/>
        </p:nvSpPr>
        <p:spPr>
          <a:xfrm>
            <a:off x="5943600" y="6912864"/>
            <a:ext cx="166420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Autopilot</a:t>
            </a:r>
            <a:endParaRPr lang="en-US" sz="1200" dirty="0"/>
          </a:p>
        </p:txBody>
      </p:sp>
      <p:sp>
        <p:nvSpPr>
          <p:cNvPr id="5060" name="Text 53"/>
          <p:cNvSpPr txBox="1"/>
          <p:nvPr/>
        </p:nvSpPr>
        <p:spPr>
          <a:xfrm>
            <a:off x="5961888" y="7278624"/>
            <a:ext cx="1627632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playbook signals; one WhatsApp/app nudge at a time with ₹ impact; optional auto-apply</a:t>
            </a:r>
            <a:endParaRPr lang="en-US" sz="1080" dirty="0"/>
          </a:p>
        </p:txBody>
      </p:sp>
      <p:sp>
        <p:nvSpPr>
          <p:cNvPr id="5061" name="Shape 54"/>
          <p:cNvSpPr/>
          <p:nvPr/>
        </p:nvSpPr>
        <p:spPr>
          <a:xfrm>
            <a:off x="7717536" y="6263640"/>
            <a:ext cx="1737360" cy="2267712"/>
          </a:xfrm>
          <a:prstGeom prst="rect">
            <a:avLst/>
          </a:prstGeom>
          <a:solidFill>
            <a:srgbClr val="FFF7EA"/>
          </a:solidFill>
          <a:ln w="12700">
            <a:solidFill>
              <a:srgbClr val="F2DD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2" name="Shape 55"/>
          <p:cNvSpPr/>
          <p:nvPr/>
        </p:nvSpPr>
        <p:spPr>
          <a:xfrm>
            <a:off x="8330184" y="6355080"/>
            <a:ext cx="512064" cy="512064"/>
          </a:xfrm>
          <a:prstGeom prst="ellipse">
            <a:avLst/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063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3079" y="6477975"/>
            <a:ext cx="266273" cy="266273"/>
          </a:xfrm>
          <a:prstGeom prst="rect">
            <a:avLst/>
          </a:prstGeom>
        </p:spPr>
      </p:pic>
      <p:sp>
        <p:nvSpPr>
          <p:cNvPr id="5064" name="Text 56"/>
          <p:cNvSpPr txBox="1"/>
          <p:nvPr/>
        </p:nvSpPr>
        <p:spPr>
          <a:xfrm>
            <a:off x="7754112" y="6912864"/>
            <a:ext cx="1664208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Explainer</a:t>
            </a:r>
            <a:endParaRPr lang="en-US" sz="1200" dirty="0"/>
          </a:p>
        </p:txBody>
      </p:sp>
      <p:sp>
        <p:nvSpPr>
          <p:cNvPr id="5065" name="Text 57"/>
          <p:cNvSpPr txBox="1"/>
          <p:nvPr/>
        </p:nvSpPr>
        <p:spPr>
          <a:xfrm>
            <a:off x="7772400" y="7278624"/>
            <a:ext cx="1627632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Itemised plain-language payout per order; expected vs actual drift alerts</a:t>
            </a:r>
            <a:endParaRPr lang="en-US" sz="1080" dirty="0"/>
          </a:p>
        </p:txBody>
      </p:sp>
      <p:sp>
        <p:nvSpPr>
          <p:cNvPr id="5066" name="Text 58"/>
          <p:cNvSpPr txBox="1"/>
          <p:nvPr/>
        </p:nvSpPr>
        <p:spPr>
          <a:xfrm>
            <a:off x="475488" y="8595360"/>
            <a:ext cx="1417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journey</a:t>
            </a:r>
            <a:endParaRPr lang="en-US" sz="1150" dirty="0"/>
          </a:p>
        </p:txBody>
      </p:sp>
      <p:sp>
        <p:nvSpPr>
          <p:cNvPr id="5067" name="Shape 59"/>
          <p:cNvSpPr/>
          <p:nvPr/>
        </p:nvSpPr>
        <p:spPr>
          <a:xfrm>
            <a:off x="1874520" y="8595360"/>
            <a:ext cx="877824" cy="365760"/>
          </a:xfrm>
          <a:prstGeom prst="chevron">
            <a:avLst/>
          </a:prstGeom>
          <a:solidFill>
            <a:srgbClr val="D9860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8" name="Text 60"/>
          <p:cNvSpPr txBox="1"/>
          <p:nvPr/>
        </p:nvSpPr>
        <p:spPr>
          <a:xfrm>
            <a:off x="2011680" y="85953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000" dirty="0"/>
          </a:p>
        </p:txBody>
      </p:sp>
      <p:sp>
        <p:nvSpPr>
          <p:cNvPr id="5069" name="Shape 61"/>
          <p:cNvSpPr/>
          <p:nvPr/>
        </p:nvSpPr>
        <p:spPr>
          <a:xfrm>
            <a:off x="2724912" y="8595360"/>
            <a:ext cx="877824" cy="365760"/>
          </a:xfrm>
          <a:prstGeom prst="chevron">
            <a:avLst/>
          </a:prstGeom>
          <a:solidFill>
            <a:srgbClr val="F39C1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0" name="Text 62"/>
          <p:cNvSpPr txBox="1"/>
          <p:nvPr/>
        </p:nvSpPr>
        <p:spPr>
          <a:xfrm>
            <a:off x="2862072" y="85953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000" dirty="0"/>
          </a:p>
        </p:txBody>
      </p:sp>
      <p:sp>
        <p:nvSpPr>
          <p:cNvPr id="5071" name="Shape 63"/>
          <p:cNvSpPr/>
          <p:nvPr/>
        </p:nvSpPr>
        <p:spPr>
          <a:xfrm>
            <a:off x="3575304" y="8595360"/>
            <a:ext cx="877824" cy="365760"/>
          </a:xfrm>
          <a:prstGeom prst="chevron">
            <a:avLst/>
          </a:prstGeom>
          <a:solidFill>
            <a:srgbClr val="D9860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2" name="Text 64"/>
          <p:cNvSpPr txBox="1"/>
          <p:nvPr/>
        </p:nvSpPr>
        <p:spPr>
          <a:xfrm>
            <a:off x="3712464" y="85953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</p:txBody>
      </p:sp>
      <p:sp>
        <p:nvSpPr>
          <p:cNvPr id="5073" name="Shape 65"/>
          <p:cNvSpPr/>
          <p:nvPr/>
        </p:nvSpPr>
        <p:spPr>
          <a:xfrm>
            <a:off x="4425696" y="8595360"/>
            <a:ext cx="877824" cy="365760"/>
          </a:xfrm>
          <a:prstGeom prst="chevron">
            <a:avLst/>
          </a:prstGeom>
          <a:solidFill>
            <a:srgbClr val="F39C1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4" name="Text 66"/>
          <p:cNvSpPr txBox="1"/>
          <p:nvPr/>
        </p:nvSpPr>
        <p:spPr>
          <a:xfrm>
            <a:off x="4562856" y="85953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000" dirty="0"/>
          </a:p>
        </p:txBody>
      </p:sp>
      <p:sp>
        <p:nvSpPr>
          <p:cNvPr id="5075" name="Shape 67"/>
          <p:cNvSpPr/>
          <p:nvPr/>
        </p:nvSpPr>
        <p:spPr>
          <a:xfrm>
            <a:off x="5276088" y="8595360"/>
            <a:ext cx="877824" cy="365760"/>
          </a:xfrm>
          <a:prstGeom prst="chevron">
            <a:avLst/>
          </a:prstGeom>
          <a:solidFill>
            <a:srgbClr val="D9860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6" name="Text 68"/>
          <p:cNvSpPr txBox="1"/>
          <p:nvPr/>
        </p:nvSpPr>
        <p:spPr>
          <a:xfrm>
            <a:off x="5413248" y="859536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000" dirty="0"/>
          </a:p>
        </p:txBody>
      </p:sp>
      <p:sp>
        <p:nvSpPr>
          <p:cNvPr id="5077" name="Text 69"/>
          <p:cNvSpPr txBox="1"/>
          <p:nvPr/>
        </p:nvSpPr>
        <p:spPr>
          <a:xfrm>
            <a:off x="6217920" y="8558784"/>
            <a:ext cx="33375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Tiers: </a:t>
            </a: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(voice, defaults) · Growing (bands, tests) · Pro (bulk, custom rules)</a:t>
            </a:r>
            <a:endParaRPr lang="en-US" sz="1020" dirty="0"/>
          </a:p>
        </p:txBody>
      </p:sp>
      <p:sp>
        <p:nvSpPr>
          <p:cNvPr id="5078" name="Text 70"/>
          <p:cNvSpPr txBox="1"/>
          <p:nvPr/>
        </p:nvSpPr>
        <p:spPr>
          <a:xfrm>
            <a:off x="475488" y="8997696"/>
            <a:ext cx="90525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feasible: </a:t>
            </a:r>
            <a:r>
              <a:rPr lang="en-US" sz="108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tools Meesho already ships (Price Recommendation, smart pricing, dual return price) with data it already holds (slabs, category returns, comparable listings).</a:t>
            </a:r>
            <a:endParaRPr lang="en-US" sz="1080" dirty="0"/>
          </a:p>
        </p:txBody>
      </p:sp>
      <p:sp>
        <p:nvSpPr>
          <p:cNvPr id="5079" name="Shape 71"/>
          <p:cNvSpPr/>
          <p:nvPr/>
        </p:nvSpPr>
        <p:spPr>
          <a:xfrm>
            <a:off x="9738360" y="5669280"/>
            <a:ext cx="3657600" cy="3794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0" name="Shape 72"/>
          <p:cNvSpPr/>
          <p:nvPr/>
        </p:nvSpPr>
        <p:spPr>
          <a:xfrm>
            <a:off x="9829800" y="5742432"/>
            <a:ext cx="3474720" cy="438912"/>
          </a:xfrm>
          <a:prstGeom prst="roundRect">
            <a:avLst>
              <a:gd name="adj" fmla="val 16667"/>
            </a:avLst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1" name="Text 73"/>
          <p:cNvSpPr txBox="1"/>
          <p:nvPr/>
        </p:nvSpPr>
        <p:spPr>
          <a:xfrm>
            <a:off x="9829800" y="5742432"/>
            <a:ext cx="3474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Seller Sees</a:t>
            </a:r>
            <a:endParaRPr lang="en-US" sz="1450" dirty="0"/>
          </a:p>
        </p:txBody>
      </p:sp>
      <p:sp>
        <p:nvSpPr>
          <p:cNvPr id="5082" name="Shape 74"/>
          <p:cNvSpPr/>
          <p:nvPr/>
        </p:nvSpPr>
        <p:spPr>
          <a:xfrm>
            <a:off x="9848088" y="6272784"/>
            <a:ext cx="3438144" cy="1627632"/>
          </a:xfrm>
          <a:prstGeom prst="roundRect">
            <a:avLst>
              <a:gd name="adj" fmla="val 4494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3" name="Text 75"/>
          <p:cNvSpPr txBox="1"/>
          <p:nvPr/>
        </p:nvSpPr>
        <p:spPr>
          <a:xfrm>
            <a:off x="9939528" y="6309360"/>
            <a:ext cx="325526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Munafa Meter · Kurti set</a:t>
            </a:r>
            <a:endParaRPr lang="en-US" sz="1200" dirty="0"/>
          </a:p>
        </p:txBody>
      </p:sp>
      <p:sp>
        <p:nvSpPr>
          <p:cNvPr id="5084" name="Shape 76"/>
          <p:cNvSpPr/>
          <p:nvPr/>
        </p:nvSpPr>
        <p:spPr>
          <a:xfrm>
            <a:off x="10058400" y="6729984"/>
            <a:ext cx="995782" cy="274320"/>
          </a:xfrm>
          <a:prstGeom prst="rect">
            <a:avLst/>
          </a:prstGeom>
          <a:solidFill>
            <a:srgbClr val="E8A09A"/>
          </a:solidFill>
          <a:ln w="12700">
            <a:solidFill>
              <a:srgbClr val="E8A0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5" name="Text 77"/>
          <p:cNvSpPr txBox="1"/>
          <p:nvPr/>
        </p:nvSpPr>
        <p:spPr>
          <a:xfrm>
            <a:off x="10058400" y="6729984"/>
            <a:ext cx="995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000" dirty="0"/>
          </a:p>
        </p:txBody>
      </p:sp>
      <p:sp>
        <p:nvSpPr>
          <p:cNvPr id="5086" name="Shape 78"/>
          <p:cNvSpPr/>
          <p:nvPr/>
        </p:nvSpPr>
        <p:spPr>
          <a:xfrm>
            <a:off x="11054182" y="6729984"/>
            <a:ext cx="1025957" cy="274320"/>
          </a:xfrm>
          <a:prstGeom prst="rect">
            <a:avLst/>
          </a:prstGeom>
          <a:solidFill>
            <a:srgbClr val="8FD1A8"/>
          </a:solidFill>
          <a:ln w="12700">
            <a:solidFill>
              <a:srgbClr val="8FD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7" name="Text 79"/>
          <p:cNvSpPr txBox="1"/>
          <p:nvPr/>
        </p:nvSpPr>
        <p:spPr>
          <a:xfrm>
            <a:off x="11054182" y="6729984"/>
            <a:ext cx="10259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endParaRPr lang="en-US" sz="1000" dirty="0"/>
          </a:p>
        </p:txBody>
      </p:sp>
      <p:sp>
        <p:nvSpPr>
          <p:cNvPr id="5088" name="Shape 80"/>
          <p:cNvSpPr/>
          <p:nvPr/>
        </p:nvSpPr>
        <p:spPr>
          <a:xfrm>
            <a:off x="12080138" y="6729984"/>
            <a:ext cx="995782" cy="274320"/>
          </a:xfrm>
          <a:prstGeom prst="rect">
            <a:avLst/>
          </a:prstGeom>
          <a:solidFill>
            <a:srgbClr val="F5D38A"/>
          </a:solidFill>
          <a:ln w="12700">
            <a:solidFill>
              <a:srgbClr val="F5D3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9" name="Text 81"/>
          <p:cNvSpPr txBox="1"/>
          <p:nvPr/>
        </p:nvSpPr>
        <p:spPr>
          <a:xfrm>
            <a:off x="12080138" y="6729984"/>
            <a:ext cx="995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1000" dirty="0"/>
          </a:p>
        </p:txBody>
      </p:sp>
      <p:sp>
        <p:nvSpPr>
          <p:cNvPr id="5090" name="Shape 82"/>
          <p:cNvSpPr/>
          <p:nvPr/>
        </p:nvSpPr>
        <p:spPr>
          <a:xfrm>
            <a:off x="11054182" y="6638544"/>
            <a:ext cx="0" cy="457200"/>
          </a:xfrm>
          <a:prstGeom prst="line">
            <a:avLst/>
          </a:prstGeom>
          <a:noFill/>
          <a:ln w="254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91" name="Shape 83"/>
          <p:cNvSpPr/>
          <p:nvPr/>
        </p:nvSpPr>
        <p:spPr>
          <a:xfrm>
            <a:off x="11795760" y="6793992"/>
            <a:ext cx="146304" cy="146304"/>
          </a:xfrm>
          <a:prstGeom prst="ellipse">
            <a:avLst/>
          </a:prstGeom>
          <a:solidFill>
            <a:srgbClr val="5B13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92" name="Text 84"/>
          <p:cNvSpPr txBox="1"/>
          <p:nvPr/>
        </p:nvSpPr>
        <p:spPr>
          <a:xfrm>
            <a:off x="10505542" y="71140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₹288</a:t>
            </a:r>
            <a:endParaRPr lang="en-US" sz="1000" dirty="0"/>
          </a:p>
        </p:txBody>
      </p:sp>
      <p:sp>
        <p:nvSpPr>
          <p:cNvPr id="5093" name="Text 85"/>
          <p:cNvSpPr txBox="1"/>
          <p:nvPr/>
        </p:nvSpPr>
        <p:spPr>
          <a:xfrm>
            <a:off x="9939528" y="7360920"/>
            <a:ext cx="3291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₹289–319  ·  Suggested ₹309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~₹18 per order after expected returns</a:t>
            </a:r>
            <a:endParaRPr lang="en-US" sz="1100" dirty="0"/>
          </a:p>
        </p:txBody>
      </p:sp>
      <p:sp>
        <p:nvSpPr>
          <p:cNvPr id="5094" name="Shape 86"/>
          <p:cNvSpPr/>
          <p:nvPr/>
        </p:nvSpPr>
        <p:spPr>
          <a:xfrm>
            <a:off x="9848088" y="7991856"/>
            <a:ext cx="3438144" cy="1389888"/>
          </a:xfrm>
          <a:prstGeom prst="roundRect">
            <a:avLst>
              <a:gd name="adj" fmla="val 5263"/>
            </a:avLst>
          </a:prstGeom>
          <a:solidFill>
            <a:srgbClr val="DCF4E3"/>
          </a:solidFill>
          <a:ln w="12700">
            <a:solidFill>
              <a:srgbClr val="A9DD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95" name="Text 87"/>
          <p:cNvSpPr txBox="1"/>
          <p:nvPr/>
        </p:nvSpPr>
        <p:spPr>
          <a:xfrm>
            <a:off x="9939528" y="7991856"/>
            <a:ext cx="3255264" cy="1389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2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nudge (Hindi/English)</a:t>
            </a:r>
            <a:endParaRPr lang="en-US" sz="11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2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"Views are good but orders are low. Try ₹299 for 7 days, you still make ~₹9 per order."</a:t>
            </a:r>
            <a:endParaRPr lang="en-US" sz="112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2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Apply ]    [ Ignore ]</a:t>
            </a:r>
            <a:endParaRPr lang="en-US" sz="1120" dirty="0"/>
          </a:p>
        </p:txBody>
      </p:sp>
      <p:sp>
        <p:nvSpPr>
          <p:cNvPr id="5096" name="Shape 88"/>
          <p:cNvSpPr/>
          <p:nvPr/>
        </p:nvSpPr>
        <p:spPr>
          <a:xfrm>
            <a:off x="13533120" y="5669280"/>
            <a:ext cx="438912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97" name="Shape 89"/>
          <p:cNvSpPr/>
          <p:nvPr/>
        </p:nvSpPr>
        <p:spPr>
          <a:xfrm>
            <a:off x="13624560" y="5742432"/>
            <a:ext cx="4206240" cy="438912"/>
          </a:xfrm>
          <a:prstGeom prst="roundRect">
            <a:avLst>
              <a:gd name="adj" fmla="val 16667"/>
            </a:avLst>
          </a:prstGeom>
          <a:solidFill>
            <a:srgbClr val="5B1352"/>
          </a:solidFill>
          <a:ln w="12700">
            <a:solidFill>
              <a:srgbClr val="5B13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98" name="Text 90"/>
          <p:cNvSpPr txBox="1"/>
          <p:nvPr/>
        </p:nvSpPr>
        <p:spPr>
          <a:xfrm>
            <a:off x="13624560" y="5742432"/>
            <a:ext cx="42062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&amp; Key Risks</a:t>
            </a:r>
            <a:endParaRPr lang="en-US" sz="1450" dirty="0"/>
          </a:p>
        </p:txBody>
      </p:sp>
      <p:pic>
        <p:nvPicPr>
          <p:cNvPr id="509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70280" y="6327648"/>
            <a:ext cx="219456" cy="219456"/>
          </a:xfrm>
          <a:prstGeom prst="rect">
            <a:avLst/>
          </a:prstGeom>
        </p:spPr>
      </p:pic>
      <p:sp>
        <p:nvSpPr>
          <p:cNvPr id="5100" name="Text 91"/>
          <p:cNvSpPr txBox="1"/>
          <p:nvPr/>
        </p:nvSpPr>
        <p:spPr>
          <a:xfrm>
            <a:off x="13935456" y="6254496"/>
            <a:ext cx="3931920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star: </a:t>
            </a:r>
            <a:r>
              <a:rPr lang="en-US" sz="1150" dirty="0">
                <a:solidFill>
                  <a:srgbClr val="5B1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active listings priced above their floor and inside the market band</a:t>
            </a:r>
            <a:endParaRPr lang="en-US" sz="1150" dirty="0"/>
          </a:p>
        </p:txBody>
      </p:sp>
      <p:sp>
        <p:nvSpPr>
          <p:cNvPr id="5101" name="Text 92"/>
          <p:cNvSpPr txBox="1"/>
          <p:nvPr/>
        </p:nvSpPr>
        <p:spPr>
          <a:xfrm>
            <a:off x="13670280" y="6784848"/>
            <a:ext cx="4206240" cy="1261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survival of new sellers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Settlement-verified profit per order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first order (FY25 baseline: 16)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 with no price review in 60+ days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5102" name="Shape 93"/>
          <p:cNvSpPr/>
          <p:nvPr/>
        </p:nvSpPr>
        <p:spPr>
          <a:xfrm>
            <a:off x="13670280" y="8083296"/>
            <a:ext cx="4114800" cy="0"/>
          </a:xfrm>
          <a:prstGeom prst="line">
            <a:avLst/>
          </a:prstGeom>
          <a:noFill/>
          <a:ln w="15875">
            <a:solidFill>
              <a:srgbClr val="E3CF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03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70280" y="8165592"/>
            <a:ext cx="201168" cy="201168"/>
          </a:xfrm>
          <a:prstGeom prst="rect">
            <a:avLst/>
          </a:prstGeom>
        </p:spPr>
      </p:pic>
      <p:sp>
        <p:nvSpPr>
          <p:cNvPr id="5104" name="Text 94"/>
          <p:cNvSpPr txBox="1"/>
          <p:nvPr/>
        </p:nvSpPr>
        <p:spPr>
          <a:xfrm>
            <a:off x="13917168" y="8119872"/>
            <a:ext cx="3657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→ Mitigation</a:t>
            </a:r>
            <a:endParaRPr lang="en-US" sz="1200" dirty="0"/>
          </a:p>
        </p:txBody>
      </p:sp>
      <p:sp>
        <p:nvSpPr>
          <p:cNvPr id="5105" name="Text 95"/>
          <p:cNvSpPr txBox="1"/>
          <p:nvPr/>
        </p:nvSpPr>
        <p:spPr>
          <a:xfrm>
            <a:off x="13670280" y="8430768"/>
            <a:ext cx="42062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herding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ranges, not one price; seller decides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to bottom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floor is a hard guardrail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inputs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category sanity checks, defaults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Distrust, nudge fatigue </a:t>
            </a: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₹-explained, trigger-only, vernacular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2204</Words>
  <Application>Microsoft Office PowerPoint</Application>
  <PresentationFormat>Custom</PresentationFormat>
  <Paragraphs>300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Pakhi Vaidya</cp:lastModifiedBy>
  <cp:revision>2</cp:revision>
  <dcterms:created xsi:type="dcterms:W3CDTF">2006-08-16T00:00:00Z</dcterms:created>
  <dcterms:modified xsi:type="dcterms:W3CDTF">2026-09-12T08:39:17Z</dcterms:modified>
</cp:coreProperties>
</file>